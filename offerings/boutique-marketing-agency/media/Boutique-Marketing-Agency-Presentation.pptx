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262819066e4adb" /><Relationship Type="http://schemas.openxmlformats.org/officeDocument/2006/relationships/extended-properties" Target="/docProps/app.xml" Id="R3184b99e9c0c4e5b" /><Relationship Type="http://schemas.openxmlformats.org/officeDocument/2006/relationships/officeDocument" Target="/ppt/presentation.xml" Id="Ra5000752e1c443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a38803e4d6448a"/>
  </p:sldMasterIdLst>
  <p:notesMasterIdLst>
    <p:notesMasterId xmlns:r="http://schemas.openxmlformats.org/officeDocument/2006/relationships" r:id="R4ba167e8e32b48b6"/>
  </p:notesMasterIdLst>
  <p:sldIdLst>
    <p:sldId xmlns:r="http://schemas.openxmlformats.org/officeDocument/2006/relationships" id="256" r:id="Rf005b8ddb6a74c18"/>
    <p:sldId xmlns:r="http://schemas.openxmlformats.org/officeDocument/2006/relationships" id="257" r:id="R2062cb8cbecd491b"/>
    <p:sldId xmlns:r="http://schemas.openxmlformats.org/officeDocument/2006/relationships" id="258" r:id="R1fccf82ce41440af"/>
    <p:sldId xmlns:r="http://schemas.openxmlformats.org/officeDocument/2006/relationships" id="259" r:id="R064552e029a44bb4"/>
    <p:sldId xmlns:r="http://schemas.openxmlformats.org/officeDocument/2006/relationships" id="260" r:id="R834d5b77c3a449ac"/>
    <p:sldId xmlns:r="http://schemas.openxmlformats.org/officeDocument/2006/relationships" id="261" r:id="Raf7bc26fa94347c0"/>
    <p:sldId xmlns:r="http://schemas.openxmlformats.org/officeDocument/2006/relationships" id="262" r:id="R9fd7d78283fe4dd5"/>
    <p:sldId xmlns:r="http://schemas.openxmlformats.org/officeDocument/2006/relationships" id="263" r:id="Re0662a325ef34aa4"/>
    <p:sldId xmlns:r="http://schemas.openxmlformats.org/officeDocument/2006/relationships" id="264" r:id="R6a71813b10224473"/>
    <p:sldId xmlns:r="http://schemas.openxmlformats.org/officeDocument/2006/relationships" id="265" r:id="Rd1d0dbe9480d438d"/>
    <p:sldId xmlns:r="http://schemas.openxmlformats.org/officeDocument/2006/relationships" id="266" r:id="R91a4fc9ef0164f1c"/>
    <p:sldId xmlns:r="http://schemas.openxmlformats.org/officeDocument/2006/relationships" id="267" r:id="R2174573ebd6f470c"/>
    <p:sldId xmlns:r="http://schemas.openxmlformats.org/officeDocument/2006/relationships" id="268" r:id="Rfb0d4b454a7042e2"/>
    <p:sldId xmlns:r="http://schemas.openxmlformats.org/officeDocument/2006/relationships" id="269" r:id="R7c9e5bba06a54073"/>
    <p:sldId xmlns:r="http://schemas.openxmlformats.org/officeDocument/2006/relationships" id="270" r:id="R09647a03bfb2401d"/>
    <p:sldId xmlns:r="http://schemas.openxmlformats.org/officeDocument/2006/relationships" id="271" r:id="Rd15eb15f7adb48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fb258dc534a2e" /><Relationship Type="http://schemas.openxmlformats.org/officeDocument/2006/relationships/slideMaster" Target="/ppt/slideMasters/slideMaster1.xml" Id="Rc3a38803e4d6448a" /><Relationship Type="http://schemas.openxmlformats.org/officeDocument/2006/relationships/notesMaster" Target="/ppt/notesMasters/notesMaster1.xml" Id="R4ba167e8e32b48b6" /><Relationship Type="http://schemas.openxmlformats.org/officeDocument/2006/relationships/presProps" Target="/ppt/presProps.xml" Id="R36d720bbbdac4ff6" /><Relationship Type="http://schemas.openxmlformats.org/officeDocument/2006/relationships/tableStyles" Target="/ppt/tableStyles.xml" Id="Raccd9b1dcb364a88" /><Relationship Type="http://schemas.openxmlformats.org/officeDocument/2006/relationships/slide" Target="/ppt/slides/slide1.xml" Id="Rf005b8ddb6a74c18" /><Relationship Type="http://schemas.openxmlformats.org/officeDocument/2006/relationships/slide" Target="/ppt/slides/slide2.xml" Id="R2062cb8cbecd491b" /><Relationship Type="http://schemas.openxmlformats.org/officeDocument/2006/relationships/slide" Target="/ppt/slides/slide3.xml" Id="R1fccf82ce41440af" /><Relationship Type="http://schemas.openxmlformats.org/officeDocument/2006/relationships/slide" Target="/ppt/slides/slide4.xml" Id="R064552e029a44bb4" /><Relationship Type="http://schemas.openxmlformats.org/officeDocument/2006/relationships/slide" Target="/ppt/slides/slide5.xml" Id="R834d5b77c3a449ac" /><Relationship Type="http://schemas.openxmlformats.org/officeDocument/2006/relationships/slide" Target="/ppt/slides/slide6.xml" Id="Raf7bc26fa94347c0" /><Relationship Type="http://schemas.openxmlformats.org/officeDocument/2006/relationships/slide" Target="/ppt/slides/slide7.xml" Id="R9fd7d78283fe4dd5" /><Relationship Type="http://schemas.openxmlformats.org/officeDocument/2006/relationships/slide" Target="/ppt/slides/slide8.xml" Id="Re0662a325ef34aa4" /><Relationship Type="http://schemas.openxmlformats.org/officeDocument/2006/relationships/slide" Target="/ppt/slides/slide9.xml" Id="R6a71813b10224473" /><Relationship Type="http://schemas.openxmlformats.org/officeDocument/2006/relationships/slide" Target="/ppt/slides/slide10.xml" Id="Rd1d0dbe9480d438d" /><Relationship Type="http://schemas.openxmlformats.org/officeDocument/2006/relationships/slide" Target="/ppt/slides/slide11.xml" Id="R91a4fc9ef0164f1c" /><Relationship Type="http://schemas.openxmlformats.org/officeDocument/2006/relationships/slide" Target="/ppt/slides/slide12.xml" Id="R2174573ebd6f470c" /><Relationship Type="http://schemas.openxmlformats.org/officeDocument/2006/relationships/slide" Target="/ppt/slides/slide13.xml" Id="Rfb0d4b454a7042e2" /><Relationship Type="http://schemas.openxmlformats.org/officeDocument/2006/relationships/slide" Target="/ppt/slides/slide14.xml" Id="R7c9e5bba06a54073" /><Relationship Type="http://schemas.openxmlformats.org/officeDocument/2006/relationships/slide" Target="/ppt/slides/slide15.xml" Id="R09647a03bfb2401d" /><Relationship Type="http://schemas.openxmlformats.org/officeDocument/2006/relationships/slide" Target="/ppt/slides/slide16.xml" Id="Rd15eb15f7adb48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3b221b72a04f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de1fbd104c452c" /><Relationship Type="http://schemas.openxmlformats.org/officeDocument/2006/relationships/notesMaster" Target="/ppt/notesMasters/notesMaster1.xml" Id="Rb0ff4ba6dd4649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0468d9a21f4fc5" /><Relationship Type="http://schemas.openxmlformats.org/officeDocument/2006/relationships/notesMaster" Target="/ppt/notesMasters/notesMaster1.xml" Id="Rf6b18469b52348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17ac5aee0b4a9c" /><Relationship Type="http://schemas.openxmlformats.org/officeDocument/2006/relationships/notesMaster" Target="/ppt/notesMasters/notesMaster1.xml" Id="R4b6ab5b8ae3a46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8c60e221644af4" /><Relationship Type="http://schemas.openxmlformats.org/officeDocument/2006/relationships/notesMaster" Target="/ppt/notesMasters/notesMaster1.xml" Id="R5ef9d67db82a47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bfab159cbd4a6c" /><Relationship Type="http://schemas.openxmlformats.org/officeDocument/2006/relationships/notesMaster" Target="/ppt/notesMasters/notesMaster1.xml" Id="R8e086b19ad234a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af4e3f1b9e408e" /><Relationship Type="http://schemas.openxmlformats.org/officeDocument/2006/relationships/notesMaster" Target="/ppt/notesMasters/notesMaster1.xml" Id="R0404087cdfc448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bc25e896f04c9a" /><Relationship Type="http://schemas.openxmlformats.org/officeDocument/2006/relationships/notesMaster" Target="/ppt/notesMasters/notesMaster1.xml" Id="R7bbb3d5039eb48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e1d67aed474d3f" /><Relationship Type="http://schemas.openxmlformats.org/officeDocument/2006/relationships/notesMaster" Target="/ppt/notesMasters/notesMaster1.xml" Id="Reefafe77ded34a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a5ed5e10a3441c" /><Relationship Type="http://schemas.openxmlformats.org/officeDocument/2006/relationships/notesMaster" Target="/ppt/notesMasters/notesMaster1.xml" Id="R1ed0ee31910b44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932738a5924f1f" /><Relationship Type="http://schemas.openxmlformats.org/officeDocument/2006/relationships/notesMaster" Target="/ppt/notesMasters/notesMaster1.xml" Id="R9a48bdfe569a43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b7b88252924b5b" /><Relationship Type="http://schemas.openxmlformats.org/officeDocument/2006/relationships/notesMaster" Target="/ppt/notesMasters/notesMaster1.xml" Id="R48c629b0e83042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fe6d4a0419430f" /><Relationship Type="http://schemas.openxmlformats.org/officeDocument/2006/relationships/notesMaster" Target="/ppt/notesMasters/notesMaster1.xml" Id="R229eedd2aede45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98ade519d14e80" /><Relationship Type="http://schemas.openxmlformats.org/officeDocument/2006/relationships/notesMaster" Target="/ppt/notesMasters/notesMaster1.xml" Id="R3e6bc6161c9740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15bc97cc1140dd" /><Relationship Type="http://schemas.openxmlformats.org/officeDocument/2006/relationships/notesMaster" Target="/ppt/notesMasters/notesMaster1.xml" Id="Rea93b842096740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4ef570c6554eab" /><Relationship Type="http://schemas.openxmlformats.org/officeDocument/2006/relationships/notesMaster" Target="/ppt/notesMasters/notesMaster1.xml" Id="R089a75c520df4d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d3a467044549ef" /><Relationship Type="http://schemas.openxmlformats.org/officeDocument/2006/relationships/notesMaster" Target="/ppt/notesMasters/notesMaster1.xml" Id="R7377324858be47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https://6sense.com/</a:t>
            </a:r>
          </a:p>
          <a:p xmlns:a="http://schemas.openxmlformats.org/drawingml/2006/main">
            <a:r>
              <a:t>https://www.demandbase.com/problems-we-solve/find/</a:t>
            </a:r>
          </a:p>
          <a:p xmlns:a="http://schemas.openxmlformats.org/drawingml/2006/main">
            <a:r>
              <a:t>https://www.demandbase.com/problems-we-solve/engage/</a:t>
            </a:r>
          </a:p>
          <a:p xmlns:a="http://schemas.openxmlformats.org/drawingml/2006/main">
            <a:r>
              <a:t>https://www.semrush.com/features/</a:t>
            </a:r>
          </a:p>
          <a:p xmlns:a="http://schemas.openxmlformats.org/drawingml/2006/main">
            <a:r>
              <a:t>https://www.hubspot.com/products/marketing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Checked 2026-08-27. Focus and capabilities summarize official product descriptions. Pilot role is our interpretation of potential usage, not a vendor commitment or exhaustive feature comparison. Boutique Marketing Agency + Lab is the proposed tailored pilot from this deck, not a claim of deployed capability or tested superiority. No prices or competitive absence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https://www.qualtrics.com/articles/strategy-research/synthetic-data-market-research/</a:t>
            </a:r>
          </a:p>
          <a:p xmlns:a="http://schemas.openxmlformats.org/drawingml/2006/main">
            <a:r>
              <a:t>https://www.giskard.ai/products/llm-evaluation</a:t>
            </a:r>
          </a:p>
          <a:p xmlns:a="http://schemas.openxmlformats.org/drawingml/2006/main">
            <a:r>
              <a:t>Accessed 2026-08-27. Market terminology references, not capability certification or integrations.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Future options only; no implementation or predictive accuracy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https://www.ataccama.com/platform/mcp</a:t>
            </a:r>
          </a:p>
          <a:p xmlns:a="http://schemas.openxmlformats.org/drawingml/2006/main">
            <a:r>
              <a:t>https://modelcontextprotocol.io/specification/2025-06-18/architecture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Accessed 2026-08-27. Ataccama is an integration-pattern reference, not an asserted Nora integration. All content is proposed future architecture, subject to scope, authorization and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https://www.forrester.com/policies/forrester-wave-methodology/</a:t>
            </a:r>
          </a:p>
          <a:p xmlns:a="http://schemas.openxmlformats.org/drawingml/2006/main">
            <a:r>
              <a:t>Accessed 2026-08-27.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Proposed internal evaluation tiers only, not Forrester ratings. No vendor is assigned a tier. Define criteria, evidence requirements and thresholds before scoring. Review market-specific inclusion criteria before seeking a future analyst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https://www.ataccama.com/platform/mcp</a:t>
            </a:r>
          </a:p>
          <a:p xmlns:a="http://schemas.openxmlformats.org/drawingml/2006/main">
            <a:r>
              <a:t>https://modelcontextprotocol.io/specification/2025-06-18/architecture</a:t>
            </a:r>
          </a:p>
          <a:p xmlns:a="http://schemas.openxmlformats.org/drawingml/2006/main">
            <a:r>
              <a:t>https://github.com/fw-ai/fireconnect</a:t>
            </a:r>
          </a:p>
          <a:p xmlns:a="http://schemas.openxmlformats.org/drawingml/2006/main">
            <a:r>
              <a:t>https://docs.fireworks.ai/getting-started/introduction</a:t>
            </a:r>
          </a:p>
          <a:p xmlns:a="http://schemas.openxmlformats.org/drawingml/2006/main">
            <a:r>
              <a:t>https://fireworks.ai/nexus</a:t>
            </a:r>
          </a:p>
          <a:p xmlns:a="http://schemas.openxmlformats.org/drawingml/2006/main">
            <a:r>
              <a:t>https://docs.glean.com/connectors</a:t>
            </a:r>
          </a:p>
          <a:p xmlns:a="http://schemas.openxmlformats.org/drawingml/2006/main">
            <a:r>
              <a:t>https://docs.glean.com/get-started/setup/connect-data-sources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Architecture describes integration capabilities and candidate components, not a deployment inventory. Source applications are examples requested by the user, not live connector claims. CrewAI is an option. FireConnect connects Fireworks models to coding agents; it is not the SaaS integration layer. FireRouter denotes adaptive routing. Fireworks supports model inference and supervised/reinforcement fine-tuning. Knowledge and memory are architecture components. Accessed 2026-08-27.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https://www.ataccama.com/platform/mcp</a:t>
            </a:r>
          </a:p>
          <a:p xmlns:a="http://schemas.openxmlformats.org/drawingml/2006/main">
            <a:r>
              <a:t>https://modelcontextprotocol.io/specification/2025-06-18/architecture</a:t>
            </a:r>
          </a:p>
          <a:p xmlns:a="http://schemas.openxmlformats.org/drawingml/2006/main">
            <a:r>
              <a:t>https://github.com/fw-ai/fireconnect</a:t>
            </a:r>
          </a:p>
          <a:p xmlns:a="http://schemas.openxmlformats.org/drawingml/2006/main">
            <a:r>
              <a:t>https://docs.fireworks.ai/getting-started/introduction</a:t>
            </a:r>
          </a:p>
          <a:p xmlns:a="http://schemas.openxmlformats.org/drawingml/2006/main">
            <a:r>
              <a:t>https://fireworks.ai/nexus</a:t>
            </a:r>
          </a:p>
          <a:p xmlns:a="http://schemas.openxmlformats.org/drawingml/2006/main">
            <a:r>
              <a:t>https://docs.glean.com/connectors</a:t>
            </a:r>
          </a:p>
          <a:p xmlns:a="http://schemas.openxmlformats.org/drawingml/2006/main">
            <a:r>
              <a:t>https://docs.glean.com/get-started/setup/connect-data-sources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Architecture describes integration capabilities and candidate components, not a deployment inventory. Source applications are examples requested by the user, not live connector claims. CrewAI is an option. FireConnect connects Fireworks models to coding agents; it is not the SaaS integration layer. FireRouter denotes adaptive routing. Fireworks supports model inference and supervised/reinforcement fine-tuning. Knowledge and memory are architecture components. Accessed 2026-08-27.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efc0c182a44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4d0ac87b0d4839" /><Relationship Type="http://schemas.openxmlformats.org/officeDocument/2006/relationships/slideLayout" Target="/ppt/slideLayouts/slideLayout1.xml" Id="R639d9d0d824e43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9d9d0d824e43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0c801790448d3" /><Relationship Type="http://schemas.openxmlformats.org/officeDocument/2006/relationships/image" Target="/ppt/media/image.png" Id="R64877f514e5a4aa8" /><Relationship Type="http://schemas.openxmlformats.org/officeDocument/2006/relationships/notesSlide" Target="/ppt/notesSlides/notesSlide1.xml" Id="R386bbf98af1f4b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051de0e354343" /><Relationship Type="http://schemas.openxmlformats.org/officeDocument/2006/relationships/image" Target="/ppt/media/image.png" Id="Rdc631d948a524be0" /><Relationship Type="http://schemas.openxmlformats.org/officeDocument/2006/relationships/notesSlide" Target="/ppt/notesSlides/notesSlide2.xml" Id="R6e31f4bc866148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0914f1e974225" /><Relationship Type="http://schemas.openxmlformats.org/officeDocument/2006/relationships/image" Target="/ppt/media/image.png" Id="Rcb836f665df7448c" /><Relationship Type="http://schemas.openxmlformats.org/officeDocument/2006/relationships/notesSlide" Target="/ppt/notesSlides/notesSlide3.xml" Id="R4d6db221b71747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e6399c10447d5" /><Relationship Type="http://schemas.openxmlformats.org/officeDocument/2006/relationships/image" Target="/ppt/media/image.png" Id="Rf335b48db1104747" /><Relationship Type="http://schemas.openxmlformats.org/officeDocument/2006/relationships/image" Target="/ppt/media/image2.png" Id="R72b18b14762d4c8c" /><Relationship Type="http://schemas.openxmlformats.org/officeDocument/2006/relationships/image" Target="/ppt/media/image3.png" Id="R482e38c603c74204" /><Relationship Type="http://schemas.openxmlformats.org/officeDocument/2006/relationships/image" Target="/ppt/media/image4.png" Id="Rb1d018312cc84331" /><Relationship Type="http://schemas.openxmlformats.org/officeDocument/2006/relationships/image" Target="/ppt/media/image5.png" Id="R69f095ff31bb49ad" /><Relationship Type="http://schemas.openxmlformats.org/officeDocument/2006/relationships/image" Target="/ppt/media/image6.png" Id="Re2ed5ad0a60e40f4" /><Relationship Type="http://schemas.openxmlformats.org/officeDocument/2006/relationships/image" Target="/ppt/media/image7.png" Id="Rddc8f3fd61314749" /><Relationship Type="http://schemas.openxmlformats.org/officeDocument/2006/relationships/notesSlide" Target="/ppt/notesSlides/notesSlide4.xml" Id="Reed9a70bdd8e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f75c23d7d4abe" /><Relationship Type="http://schemas.openxmlformats.org/officeDocument/2006/relationships/image" Target="/ppt/media/image8.png" Id="Re54c52cf2fce4ef7" /><Relationship Type="http://schemas.openxmlformats.org/officeDocument/2006/relationships/image" Target="/ppt/media/image9.png" Id="R672e9f50f9364cca" /><Relationship Type="http://schemas.openxmlformats.org/officeDocument/2006/relationships/image" Target="/ppt/media/image10.png" Id="Ra3ca185eed2e4cc9" /><Relationship Type="http://schemas.openxmlformats.org/officeDocument/2006/relationships/notesSlide" Target="/ppt/notesSlides/notesSlide5.xml" Id="R56879c5ada494b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c6b9c54774199" /><Relationship Type="http://schemas.openxmlformats.org/officeDocument/2006/relationships/notesSlide" Target="/ppt/notesSlides/notesSlide6.xml" Id="R2909c54768e643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5184b63c44533" /><Relationship Type="http://schemas.openxmlformats.org/officeDocument/2006/relationships/notesSlide" Target="/ppt/notesSlides/notesSlide7.xml" Id="Rd3996b0d1e5447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dd43bca834450" /><Relationship Type="http://schemas.openxmlformats.org/officeDocument/2006/relationships/notesSlide" Target="/ppt/notesSlides/notesSlide8.xml" Id="R380acb6c31cd4e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e84b7f2dd4ba3" /><Relationship Type="http://schemas.openxmlformats.org/officeDocument/2006/relationships/notesSlide" Target="/ppt/notesSlides/notesSlide9.xml" Id="R3f0f16be15324b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a024bb9c34789" /><Relationship Type="http://schemas.openxmlformats.org/officeDocument/2006/relationships/image" Target="/ppt/media/image11.png" Id="R53139aa061ce42b1" /><Relationship Type="http://schemas.openxmlformats.org/officeDocument/2006/relationships/image" Target="/ppt/media/image12.png" Id="R364499bf02dd409e" /><Relationship Type="http://schemas.openxmlformats.org/officeDocument/2006/relationships/notesSlide" Target="/ppt/notesSlides/notesSlide10.xml" Id="R7aea97402a9c4c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e855557264f53" /><Relationship Type="http://schemas.openxmlformats.org/officeDocument/2006/relationships/notesSlide" Target="/ppt/notesSlides/notesSlide11.xml" Id="Ra92bdbd1a88248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5652492664f6c" /><Relationship Type="http://schemas.openxmlformats.org/officeDocument/2006/relationships/image" Target="/ppt/media/image8.png" Id="R398f63d82e1d4634" /><Relationship Type="http://schemas.openxmlformats.org/officeDocument/2006/relationships/image" Target="/ppt/media/image9.png" Id="Rd71ccc0e31f34580" /><Relationship Type="http://schemas.openxmlformats.org/officeDocument/2006/relationships/image" Target="/ppt/media/image10.png" Id="R185565730b8949e9" /><Relationship Type="http://schemas.openxmlformats.org/officeDocument/2006/relationships/notesSlide" Target="/ppt/notesSlides/notesSlide12.xml" Id="Rd76baee3890f4f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119a60d654d46" /><Relationship Type="http://schemas.openxmlformats.org/officeDocument/2006/relationships/image" Target="/ppt/media/image8.png" Id="R60c4a361087d462b" /><Relationship Type="http://schemas.openxmlformats.org/officeDocument/2006/relationships/image" Target="/ppt/media/image9.png" Id="R537fb34924994892" /><Relationship Type="http://schemas.openxmlformats.org/officeDocument/2006/relationships/image" Target="/ppt/media/image10.png" Id="R769a273640994528" /><Relationship Type="http://schemas.openxmlformats.org/officeDocument/2006/relationships/notesSlide" Target="/ppt/notesSlides/notesSlide13.xml" Id="R06fdd2a269eb44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81640448b4e37" /><Relationship Type="http://schemas.openxmlformats.org/officeDocument/2006/relationships/image" Target="/ppt/media/image11.png" Id="Rcb3b588923bd4870" /><Relationship Type="http://schemas.openxmlformats.org/officeDocument/2006/relationships/image" Target="/ppt/media/image12.png" Id="R268311c78f2842ff" /><Relationship Type="http://schemas.openxmlformats.org/officeDocument/2006/relationships/notesSlide" Target="/ppt/notesSlides/notesSlide14.xml" Id="R53cc00702c2b4f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c79d789fc4f50" /><Relationship Type="http://schemas.openxmlformats.org/officeDocument/2006/relationships/image" Target="/ppt/media/image8.png" Id="R63043940dce14f7b" /><Relationship Type="http://schemas.openxmlformats.org/officeDocument/2006/relationships/image" Target="/ppt/media/image9.png" Id="R8d8df50b3f814f89" /><Relationship Type="http://schemas.openxmlformats.org/officeDocument/2006/relationships/image" Target="/ppt/media/image10.png" Id="R39b47d08367b450a" /><Relationship Type="http://schemas.openxmlformats.org/officeDocument/2006/relationships/notesSlide" Target="/ppt/notesSlides/notesSlide15.xml" Id="R0c23ee4a3a3c4f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f0dd9bdaf427d" /><Relationship Type="http://schemas.openxmlformats.org/officeDocument/2006/relationships/notesSlide" Target="/ppt/notesSlides/notesSlide16.xml" Id="R7888f94be5d144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77f514e5a4a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232" y="494386"/>
            <a:ext cx="340157" cy="34015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F1A0C54-78E4-4612-9FE5-C7F14F05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33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00">
                <a:solidFill>
                  <a:srgbClr val="35C6D0"/>
                </a:solidFill>
              </a:defRPr>
            </a:pPr>
            <a:r>
              <a:rPr sz="900">
                <a:solidFill>
                  <a:srgbClr val="35C6D0"/>
                </a:solidFill>
                <a:latin typeface="Arial"/>
                <a:ea typeface="Arial"/>
                <a:cs typeface="Arial"/>
              </a:rPr>
              <a:t>Nora SuperIntelligence Lab</a:t>
            </a:r>
            <a:endParaRPr sz="13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700EBE1F-13B2-4126-B4C2-3D229CA5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 sz="2700"/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One-week pilot to win the next clients.</a:t>
            </a:r>
            <a:endParaRPr sz="27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077FECB1-E74F-4083-904D-858A9F54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33525"/>
            <a:ext cx="1069848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 sz="1150"/>
            </a:pP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Combine Nora SuperIntelligence Lab's capabilities with </a:t>
            </a: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's expertise to pursue and win the right new clients.</a:t>
            </a:r>
            <a:endParaRPr sz="1450"/>
          </a:p>
        </p:txBody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8F4D0F1-1C51-4364-AFA6-6CA8CF1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87168"/>
            <a:ext cx="4892040" cy="22128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436"/>
          </a:solidFill>
          <a:ln xmlns:a="http://schemas.openxmlformats.org/drawingml/2006/main" w="22860">
            <a:solidFill>
              <a:srgbClr val="35C6D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96A38B6-DF00-4FFB-8D2F-2E55BC2F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0662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5C6D0"/>
                </a:solidFill>
              </a:defRPr>
            </a:pPr>
            <a:r>
              <a:rPr sz="1700" b="1" spc="10">
                <a:solidFill>
                  <a:srgbClr val="35C6D0"/>
                </a:solidFill>
                <a:latin typeface="Arial"/>
                <a:ea typeface="Arial"/>
                <a:cs typeface="Arial"/>
              </a:rPr>
              <a:t>Nora SuperIntelligence Lab</a:t>
            </a:r>
            <a:endParaRPr sz="17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9E7E585D-65E6-41D1-9401-44D00A9A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81528"/>
            <a:ext cx="4297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FFFFF">
                <a:alpha val="58000"/>
              </a:srgbClr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1FFAA91-DE70-41EB-805B-5C31DFD2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35584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36">
              <a:alpha val="0"/>
            </a:srgbClr>
          </a:solidFill>
          <a:ln xmlns:a="http://schemas.openxmlformats.org/drawingml/2006/main" w="22860">
            <a:solidFill>
              <a:srgbClr val="35C6D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6E3D9D8-82C1-469E-A801-57FDD5C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575304"/>
            <a:ext cx="164592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35C6D0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54D5BB5-A87D-4E0C-82A7-191B527B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3319272"/>
            <a:ext cx="3584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5C6D0"/>
                </a:solidFill>
              </a:defRPr>
            </a:pPr>
            <a:r>
              <a:rPr sz="1250" b="1" spc="35">
                <a:solidFill>
                  <a:srgbClr val="35C6D0"/>
                </a:solidFill>
                <a:latin typeface="Arial"/>
                <a:ea typeface="Arial"/>
                <a:cs typeface="Arial"/>
              </a:rPr>
              <a:t>DEEP MARKET RESEARCH</a:t>
            </a:r>
            <a:endParaRPr sz="12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45777CE-08A7-4D18-8358-72C5E028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3520440"/>
            <a:ext cx="358444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and prioritize high-potential clients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6DA18A4-D8D6-4D23-8893-BAB36F1C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977640"/>
            <a:ext cx="310896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6">
              <a:alpha val="0"/>
            </a:srgbClr>
          </a:solidFill>
          <a:ln xmlns:a="http://schemas.openxmlformats.org/drawingml/2006/main" w="19050">
            <a:solidFill>
              <a:srgbClr val="35C6D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C537CF27-FEA5-45CD-92B5-387818CC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105656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5C6D0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C802EC7-3BB8-41C6-AFF6-417C22B2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197096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5C6D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12106A-8191-4C03-98E1-436118E0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3959352"/>
            <a:ext cx="3584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5C6D0"/>
                </a:solidFill>
              </a:defRPr>
            </a:pPr>
            <a:r>
              <a:rPr sz="1250" b="1" spc="35">
                <a:solidFill>
                  <a:srgbClr val="35C6D0"/>
                </a:solidFill>
                <a:latin typeface="Arial"/>
                <a:ea typeface="Arial"/>
                <a:cs typeface="Arial"/>
              </a:rPr>
              <a:t>TAILORED PITCH DEVELOPMENT</a:t>
            </a:r>
            <a:endParaRPr sz="12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519AAD2-8AC9-4106-8D96-22CCA073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4160520"/>
            <a:ext cx="358444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 personalized pitch package for each opportunity</a:t>
            </a:r>
            <a:endParaRPr sz="10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2370B2BA-9CE1-421A-88B4-746E6CEA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487168"/>
            <a:ext cx="4892040" cy="22128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436"/>
          </a:solidFill>
          <a:ln xmlns:a="http://schemas.openxmlformats.org/drawingml/2006/main" w="22860">
            <a:solidFill>
              <a:srgbClr val="19A968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F3839D7-C7A6-4C81-9B33-BD7A06D0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70662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9A968"/>
                </a:solidFill>
              </a:defRPr>
            </a:pPr>
            <a:r>
              <a:rPr sz="1700" b="1" spc="10">
                <a:solidFill>
                  <a:srgbClr val="19A968"/>
                </a:solidFill>
                <a:latin typeface="Arial"/>
                <a:ea typeface="Arial"/>
                <a:cs typeface="Arial"/>
              </a:rPr>
              <a:t>Boutique Marketing Agency</a:t>
            </a:r>
            <a:endParaRPr sz="17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A76C8B4-8D81-4D19-95AD-FF15A527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081528"/>
            <a:ext cx="4297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FFFFF">
                <a:alpha val="58000"/>
              </a:srgbClr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4D35596-DAF7-4256-9BFE-694D8C1C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33375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968"/>
          </a:solidFill>
          <a:ln xmlns:a="http://schemas.openxmlformats.org/drawingml/2006/main" w="0">
            <a:solidFill>
              <a:srgbClr val="19A968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127BF41-4810-4A27-8903-22869135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3401568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827"/>
                </a:solidFill>
                <a:latin typeface="Arial"/>
                <a:ea typeface="Arial"/>
                <a:cs typeface="Arial"/>
              </a:rPr>
              <a:t>✓</a:t>
            </a:r>
            <a:endParaRPr sz="10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24B9BCA-E8AA-452B-B48E-8B739DA5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319272"/>
            <a:ext cx="3584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9A968"/>
                </a:solidFill>
              </a:defRPr>
            </a:pPr>
            <a:r>
              <a:rPr sz="1250" b="1" spc="35">
                <a:solidFill>
                  <a:srgbClr val="19A968"/>
                </a:solidFill>
                <a:latin typeface="Arial"/>
                <a:ea typeface="Arial"/>
                <a:cs typeface="Arial"/>
              </a:rPr>
              <a:t>TARGET CLIENT APPROVAL</a:t>
            </a:r>
            <a:endParaRPr sz="12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5722513-3325-4C38-AF3B-176BF70F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520440"/>
            <a:ext cx="358444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and approve the right client opportunities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C9E052A-8887-4215-8B06-AAEDAB3C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399592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36">
              <a:alpha val="0"/>
            </a:srgbClr>
          </a:solidFill>
          <a:ln xmlns:a="http://schemas.openxmlformats.org/drawingml/2006/main" w="19050">
            <a:solidFill>
              <a:srgbClr val="19A968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39C1E203-1A07-424B-B513-5BF9B0DA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4105656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36">
              <a:alpha val="0"/>
            </a:srgbClr>
          </a:solidFill>
          <a:ln xmlns:a="http://schemas.openxmlformats.org/drawingml/2006/main" w="19050">
            <a:solidFill>
              <a:srgbClr val="19A968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B48765ED-03D0-4D9B-B6E0-FA2AB42B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160520"/>
            <a:ext cx="137160" cy="64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A968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343CE1E-3BB9-42EF-8235-248FD6D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959352"/>
            <a:ext cx="3584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9A968"/>
                </a:solidFill>
              </a:defRPr>
            </a:pPr>
            <a:r>
              <a:rPr sz="1250" b="1" spc="35">
                <a:solidFill>
                  <a:srgbClr val="19A968"/>
                </a:solidFill>
                <a:latin typeface="Arial"/>
                <a:ea typeface="Arial"/>
                <a:cs typeface="Arial"/>
              </a:rPr>
              <a:t>RELATIONSHIP LEADERSHIP</a:t>
            </a:r>
            <a:endParaRPr sz="125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0DF11F8D-A833-43D0-BD95-05350F10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160520"/>
            <a:ext cx="358444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Lead each client relationship personally</a:t>
            </a:r>
            <a:endParaRPr sz="105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31A076D0-281B-41AD-8AD7-6386793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3246120"/>
            <a:ext cx="53035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3B99D"/>
                </a:solidFill>
                <a:latin typeface="Arial"/>
                <a:ea typeface="Arial"/>
                <a:cs typeface="Arial"/>
              </a:rPr>
              <a:t>+</a:t>
            </a:r>
            <a:endParaRPr sz="34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0655EC9-BBE0-4C7F-8C72-97E03072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4828032"/>
            <a:ext cx="10789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13B99D"/>
                </a:solidFill>
                <a:latin typeface="Arial"/>
                <a:ea typeface="Arial"/>
                <a:cs typeface="Arial"/>
              </a:rPr>
              <a:t>=</a:t>
            </a:r>
            <a:endParaRPr sz="38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FFE7539B-651E-48CF-A24F-75651EB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8" y="5413248"/>
            <a:ext cx="420624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B99D"/>
          </a:solidFill>
          <a:ln xmlns:a="http://schemas.openxmlformats.org/drawingml/2006/main" w="15240">
            <a:solidFill>
              <a:srgbClr val="13B99D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49359316-1A98-4903-874F-0F1A576A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5605272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 spc="55">
                <a:solidFill>
                  <a:srgbClr val="071827"/>
                </a:solidFill>
                <a:latin typeface="Arial"/>
                <a:ea typeface="Arial"/>
                <a:cs typeface="Arial"/>
              </a:rPr>
              <a:t>NEW CLIENT ACQUISITION</a:t>
            </a:r>
            <a:endParaRPr sz="17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22A3D14C-F3E1-45BA-9176-2911E73E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01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671554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31d948a52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232" y="494386"/>
            <a:ext cx="340157" cy="34015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AA309B7-B257-41E8-8350-D120423D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33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00">
                <a:solidFill>
                  <a:srgbClr val="35C6D0"/>
                </a:solidFill>
              </a:defRPr>
            </a:pPr>
            <a:r>
              <a:rPr sz="900">
                <a:solidFill>
                  <a:srgbClr val="35C6D0"/>
                </a:solidFill>
                <a:latin typeface="Arial"/>
                <a:ea typeface="Arial"/>
                <a:cs typeface="Arial"/>
              </a:rPr>
              <a:t>Nora SuperIntelligence Lab</a:t>
            </a:r>
            <a:endParaRPr sz="13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70C5A02-79D5-4123-80AA-8FF243C7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 sz="2700"/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a one-week pilot to a systematic client acquisition process.</a:t>
            </a:r>
            <a:endParaRPr sz="27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88757891-CDD6-42CD-99D0-AFC1C086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33525"/>
            <a:ext cx="1069848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 sz="1150"/>
            </a:pP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Build a systematic client acquisition process around </a:t>
            </a: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's existing expertise and strengths.</a:t>
            </a:r>
            <a:endParaRPr sz="1500"/>
          </a:p>
        </p:txBody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5A083A1-AA48-4D1C-A45F-B929597F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87168"/>
            <a:ext cx="10762488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436"/>
          </a:solidFill>
          <a:ln xmlns:a="http://schemas.openxmlformats.org/drawingml/2006/main" w="13970">
            <a:solidFill>
              <a:srgbClr val="455667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4386B544-1D84-4D1F-9A07-E34C73E8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926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6D0"/>
          </a:solidFill>
          <a:ln xmlns:a="http://schemas.openxmlformats.org/drawingml/2006/main" w="12700">
            <a:solidFill>
              <a:srgbClr val="35C6D0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16D59F4-5DE2-47E6-AEFA-B8572ECB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026664"/>
            <a:ext cx="4206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827"/>
                </a:solidFill>
                <a:latin typeface="Arial"/>
                <a:ea typeface="Arial"/>
                <a:cs typeface="Arial"/>
              </a:rPr>
              <a:t>1</a:t>
            </a:r>
            <a:endParaRPr sz="10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71AE0AE9-6A2B-488E-899D-CBAAC4C0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907792"/>
            <a:ext cx="2468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THE PILOT</a:t>
            </a:r>
            <a:endParaRPr sz="16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58DEF92-F7BF-4909-BEEF-0A4BF17D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3383280"/>
            <a:ext cx="24688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50"/>
            </a:pP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Test the approach on real client opportunities.</a:t>
            </a:r>
            <a:endParaRPr sz="122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6DA2559-1E0D-4B4A-A3D0-611709D7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246120"/>
            <a:ext cx="420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>
                <a:solidFill>
                  <a:srgbClr val="35C6D0"/>
                </a:solidFill>
                <a:latin typeface="Arial"/>
                <a:ea typeface="Arial"/>
                <a:cs typeface="Arial"/>
              </a:rPr>
              <a:t>→</a:t>
            </a:r>
            <a:endParaRPr sz="2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A44009D-9FD0-4B3A-BEEC-B8FC2986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926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6D0"/>
          </a:solidFill>
          <a:ln xmlns:a="http://schemas.openxmlformats.org/drawingml/2006/main" w="12700">
            <a:solidFill>
              <a:srgbClr val="35C6D0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0647007-4C38-4F02-AACC-141810D2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026664"/>
            <a:ext cx="4206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827"/>
                </a:solidFill>
                <a:latin typeface="Arial"/>
                <a:ea typeface="Arial"/>
                <a:cs typeface="Arial"/>
              </a:rPr>
              <a:t>2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0F11E20-EFA4-4B8E-99E1-32C0DD0F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2907792"/>
            <a:ext cx="2468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 WHAT WORKS</a:t>
            </a:r>
            <a:endParaRPr sz="16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D017D99-9AEA-47F3-B889-ADFFD5C2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383280"/>
            <a:ext cx="24688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50"/>
            </a:pP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Use real outcomes and feedback to sharpen the approach.</a:t>
            </a:r>
            <a:endParaRPr sz="122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3CCADD0-443B-454F-B7B9-A511918F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246120"/>
            <a:ext cx="420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>
                <a:solidFill>
                  <a:srgbClr val="35C6D0"/>
                </a:solidFill>
                <a:latin typeface="Arial"/>
                <a:ea typeface="Arial"/>
                <a:cs typeface="Arial"/>
              </a:rPr>
              <a:t>→</a:t>
            </a:r>
            <a:endParaRPr sz="24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C7DB907-26A7-4BA2-B922-06B50B92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26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99D"/>
          </a:solidFill>
          <a:ln xmlns:a="http://schemas.openxmlformats.org/drawingml/2006/main" w="12700">
            <a:solidFill>
              <a:srgbClr val="13B99D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7E45009-35DB-4F13-8C3F-5D8BE88C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026664"/>
            <a:ext cx="4206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827"/>
                </a:solidFill>
                <a:latin typeface="Arial"/>
                <a:ea typeface="Arial"/>
                <a:cs typeface="Arial"/>
              </a:rPr>
              <a:t>3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B63ADBD-6C74-45E9-8CF4-E8F895F0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907792"/>
            <a:ext cx="2468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3B99D"/>
                </a:solidFill>
                <a:latin typeface="Arial"/>
                <a:ea typeface="Arial"/>
                <a:cs typeface="Arial"/>
              </a:rPr>
              <a:t>SYSTEMATIZE</a:t>
            </a:r>
            <a:endParaRPr sz="16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1B22631-E677-486E-9EC0-A86745CA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83280"/>
            <a:ext cx="24688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50"/>
            </a:pP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Turn the proven approach into a repeatable acquisition process.</a:t>
            </a:r>
            <a:endParaRPr sz="122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925A9CA7-BC27-4D59-B9EF-062723E1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315968"/>
            <a:ext cx="9253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CDD0FCA-D707-45DE-AB9E-D1328A0E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590288"/>
            <a:ext cx="92537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9A968"/>
                </a:solidFill>
              </a:defRPr>
            </a:pPr>
            <a:r>
              <a:rPr sz="1400" b="1">
                <a:solidFill>
                  <a:srgbClr val="19A968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400" b="1">
                <a:solidFill>
                  <a:srgbClr val="19A968"/>
                </a:solidFill>
                <a:latin typeface="Arial"/>
                <a:ea typeface="Arial"/>
                <a:cs typeface="Arial"/>
              </a:rPr>
              <a:t>'s expertise remains the foundation at every stage.</a:t>
            </a:r>
            <a:endParaRPr sz="14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440F53B-D22B-4480-B717-0037C898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02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38372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36f665df744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232" y="494386"/>
            <a:ext cx="340157" cy="34015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1117C56-F751-4C67-962F-A10BAAE0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33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00">
                <a:solidFill>
                  <a:srgbClr val="35C6D0"/>
                </a:solidFill>
              </a:defRPr>
            </a:pPr>
            <a:r>
              <a:rPr sz="900">
                <a:solidFill>
                  <a:srgbClr val="35C6D0"/>
                </a:solidFill>
                <a:latin typeface="Arial"/>
                <a:ea typeface="Arial"/>
                <a:cs typeface="Arial"/>
              </a:rPr>
              <a:t>Nora SuperIntelligence Lab</a:t>
            </a:r>
            <a:endParaRPr sz="13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72AF95B0-885F-429A-8149-CF57ED6D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 sz="2700"/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already brings proven expertise, strategic judgment, and trusted client relationships.</a:t>
            </a:r>
            <a:endParaRPr sz="2700"/>
          </a:p>
        </p:txBody>
      </p:sp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4E067D41-A610-4E40-99A3-82DA1FC6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50592"/>
            <a:ext cx="2542032" cy="1874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436"/>
          </a:solidFill>
          <a:ln xmlns:a="http://schemas.openxmlformats.org/drawingml/2006/main" w="13970">
            <a:solidFill>
              <a:srgbClr val="455667"/>
            </a:solidFill>
            <a:prstDash val="solid"/>
          </a:ln>
        </p:spPr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2700BB0-5E15-4538-9B49-609A7214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83464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3B99D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DA9D436-B978-44FB-815E-B69F5396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971800"/>
            <a:ext cx="20299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Performance Marketing</a:t>
            </a:r>
            <a:endParaRPr sz="15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D68C09E-94A4-4444-8EC6-9F3DBD10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593592"/>
            <a:ext cx="20299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Campaign strategy, platform execution, optimization and reporting.</a:t>
            </a:r>
            <a:endParaRPr sz="115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9378773-ABC2-43C3-B0FC-40F35C44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50592"/>
            <a:ext cx="2542032" cy="1874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436"/>
          </a:solidFill>
          <a:ln xmlns:a="http://schemas.openxmlformats.org/drawingml/2006/main" w="13970">
            <a:solidFill>
              <a:srgbClr val="455667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4022B32-74C3-4A3E-BCFB-22205672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83464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5C6D0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614A050-273E-4652-9855-CDD0A4DC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971800"/>
            <a:ext cx="20299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Affiliate Marketing</a:t>
            </a:r>
            <a:endParaRPr sz="15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48A5735-3273-497D-845C-7FCD5BD5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593592"/>
            <a:ext cx="20299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Partner growth, offer alignment and measurable acquisition support.</a:t>
            </a:r>
            <a:endParaRPr sz="11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1FC217F-EA70-4627-B22F-A0299C67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450592"/>
            <a:ext cx="2542032" cy="1874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436"/>
          </a:solidFill>
          <a:ln xmlns:a="http://schemas.openxmlformats.org/drawingml/2006/main" w="13970">
            <a:solidFill>
              <a:srgbClr val="455667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8E1B8F2D-8E75-4D47-9CB3-6510E65B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3464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3B99D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FE88929-CD29-4D71-8926-867636E8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71800"/>
            <a:ext cx="20299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Brand &amp; Awareness</a:t>
            </a:r>
            <a:endParaRPr sz="155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8B4284D-0637-4161-A4AB-2007A62E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593592"/>
            <a:ext cx="20299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Positioning, message clarity and practical market visibility.</a:t>
            </a:r>
            <a:endParaRPr sz="11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30FBCC5-2023-4087-887F-31C0A38F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2450592"/>
            <a:ext cx="2542032" cy="1874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436"/>
          </a:solidFill>
          <a:ln xmlns:a="http://schemas.openxmlformats.org/drawingml/2006/main" w="13970">
            <a:solidFill>
              <a:srgbClr val="455667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784589-BFFC-41E4-A416-1FA97569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83464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5C6D0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BAD015FA-05C8-4000-8CF9-6944D63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971800"/>
            <a:ext cx="20299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Creative Capabilities</a:t>
            </a:r>
            <a:endParaRPr sz="155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FE9DB0DE-9BBF-4C97-80C2-DC7138DA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593592"/>
            <a:ext cx="20299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Creative direction, testing ideas and performance recommendations.</a:t>
            </a:r>
            <a:endParaRPr sz="11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79E645CC-FA72-4A4C-A184-057BABC3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27448"/>
            <a:ext cx="10826496" cy="10424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436"/>
          </a:solidFill>
          <a:ln xmlns:a="http://schemas.openxmlformats.org/drawingml/2006/main" w="17780">
            <a:solidFill>
              <a:srgbClr val="13B99D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2AECB04-DDCF-4A7E-930C-FAB17881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102352"/>
            <a:ext cx="12070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9A968"/>
                </a:solidFill>
              </a:defRPr>
            </a:pPr>
            <a:r>
              <a:rPr sz="1150" b="1" spc="50">
                <a:solidFill>
                  <a:srgbClr val="19A968"/>
                </a:solidFill>
                <a:latin typeface="Arial"/>
                <a:ea typeface="Arial"/>
                <a:cs typeface="Arial"/>
              </a:rPr>
              <a:t>AGENCY METHOD</a:t>
            </a:r>
            <a:endParaRPr sz="115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2C9177D-356A-40D1-B19D-F0805DF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5047488"/>
            <a:ext cx="822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14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2EA8D29-9D46-4026-B473-82B22B5D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983480"/>
            <a:ext cx="3840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>
                <a:solidFill>
                  <a:srgbClr val="35C6D0"/>
                </a:solidFill>
                <a:latin typeface="Arial"/>
                <a:ea typeface="Arial"/>
                <a:cs typeface="Arial"/>
              </a:rPr>
              <a:t>→</a:t>
            </a:r>
            <a:endParaRPr sz="2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4BBA850-F61A-4A2F-A243-09B9A720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5047488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MINIMUM / OPTIMAL / MAXIMUM SCENARIOS</a:t>
            </a:r>
            <a:endParaRPr sz="132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D942BC2F-EACB-4348-8DC4-58D96CC7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983480"/>
            <a:ext cx="3840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>
                <a:solidFill>
                  <a:srgbClr val="35C6D0"/>
                </a:solidFill>
                <a:latin typeface="Arial"/>
                <a:ea typeface="Arial"/>
                <a:cs typeface="Arial"/>
              </a:rPr>
              <a:t>→</a:t>
            </a:r>
            <a:endParaRPr sz="2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709D318-9632-44AC-996A-541C4D58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5047488"/>
            <a:ext cx="34015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ACTIVATE, OPTIMIZE &amp; MEASURE</a:t>
            </a:r>
            <a:endParaRPr sz="132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CAB70547-BF6A-4BA9-BED7-DD4D04A4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03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956349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5b48db11047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232" y="494386"/>
            <a:ext cx="340157" cy="34015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26142C3-CF61-4576-BAAE-79A53B5A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33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00">
                <a:solidFill>
                  <a:srgbClr val="35C6D0"/>
                </a:solidFill>
              </a:defRPr>
            </a:pPr>
            <a:r>
              <a:rPr sz="900">
                <a:solidFill>
                  <a:srgbClr val="35C6D0"/>
                </a:solidFill>
                <a:latin typeface="Arial"/>
                <a:ea typeface="Arial"/>
                <a:cs typeface="Arial"/>
              </a:rPr>
              <a:t>Nora SuperIntelligence Lab</a:t>
            </a:r>
            <a:endParaRPr sz="13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BFD7ABA-ADFC-4BA6-9C17-2E025401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 sz="2700"/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on the agency’s expertise with Nora SuperIntelligence Lab’s client acquisition capabilities.</a:t>
            </a:r>
            <a:endParaRPr sz="27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17CCF03F-3D0D-407E-8668-E71DFABD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52625"/>
            <a:ext cx="1069848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 sz="1150"/>
            </a:pP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Nora SuperIntelligence Lab equips </a:t>
            </a: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150">
                <a:solidFill>
                  <a:srgbClr val="BBCCD7"/>
                </a:solidFill>
                <a:latin typeface="Arial"/>
                <a:ea typeface="Arial"/>
                <a:cs typeface="Arial"/>
              </a:rPr>
              <a:t> with the insights and preparation to turn opportunities into lasting client relationships.</a:t>
            </a:r>
            <a:endParaRPr sz="1150"/>
          </a:p>
        </p:txBody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069BFFC-8DEC-4765-A214-0CFF091A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24912"/>
            <a:ext cx="10826496" cy="3611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436"/>
          </a:solidFill>
          <a:ln xmlns:a="http://schemas.openxmlformats.org/drawingml/2006/main" w="17780">
            <a:solidFill>
              <a:srgbClr val="13B99D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649D25D6-ED68-4248-91B0-6A6F852D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587752"/>
            <a:ext cx="402336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19050">
            <a:solidFill>
              <a:srgbClr val="13B99D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E11EBA8-DFDB-4115-91EE-0E5F29A2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679192"/>
            <a:ext cx="3749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35C6D0"/>
                </a:solidFill>
                <a:latin typeface="Arial"/>
                <a:ea typeface="Arial"/>
                <a:cs typeface="Arial"/>
              </a:rPr>
              <a:t>Nora SuperIntelligence Lab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20DD1CC-590C-4714-8B81-25F0F5EF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364992"/>
            <a:ext cx="196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8FF0B4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7C91F33-96C1-456F-9798-F6494488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3255264"/>
            <a:ext cx="41879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8FF0B4"/>
                </a:solidFill>
              </a:defRPr>
            </a:pPr>
            <a:r>
              <a:rPr sz="1250" b="1" spc="35">
                <a:solidFill>
                  <a:srgbClr val="8FF0B4"/>
                </a:solidFill>
                <a:latin typeface="Arial"/>
                <a:ea typeface="Arial"/>
                <a:cs typeface="Arial"/>
              </a:rPr>
              <a:t>SYSTEMATIC CLIENT ACQUISITION LAYER</a:t>
            </a:r>
            <a:endParaRPr sz="125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C2F692F-BB7B-482B-8D83-C333313B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364992"/>
            <a:ext cx="196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8FF0B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7F22495-0C3F-4D37-81AF-ED702236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694176"/>
            <a:ext cx="25146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5240">
            <a:solidFill>
              <a:srgbClr val="35C6D0"/>
            </a:solidFill>
            <a:prstDash val="solid"/>
          </a:ln>
        </p:spPr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18b14762d4c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5296" y="385876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8A9A60EA-34F1-4B66-884C-6DFB19E8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3858768"/>
            <a:ext cx="179222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35C6D0"/>
                </a:solidFill>
                <a:latin typeface="Arial"/>
                <a:ea typeface="Arial"/>
                <a:cs typeface="Arial"/>
              </a:rPr>
              <a:t>Market Intelligence</a:t>
            </a:r>
            <a:endParaRPr sz="132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71C4FC7-3DFD-44B3-9CD9-240C2A94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4123944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BBCCD7"/>
                </a:solidFill>
                <a:latin typeface="Arial"/>
                <a:ea typeface="Arial"/>
                <a:cs typeface="Arial"/>
              </a:rPr>
              <a:t>Category, competitor and opportunity research.</a:t>
            </a:r>
            <a:endParaRPr sz="103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B43AED26-9F59-45CB-A7B2-8D2843B2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0912"/>
            <a:ext cx="25146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5240">
            <a:solidFill>
              <a:srgbClr val="35C6D0"/>
            </a:solidFill>
            <a:prstDash val="solid"/>
          </a:ln>
        </p:spPr>
      </p:sp>
      <p:pic>
        <p:nvPicPr>
          <p:cNvPr id="6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e38c603c7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5296" y="517550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3DE1F030-FCF5-4CBE-92F4-5FED225B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5175504"/>
            <a:ext cx="179222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35C6D0"/>
                </a:solidFill>
                <a:latin typeface="Arial"/>
                <a:ea typeface="Arial"/>
                <a:cs typeface="Arial"/>
              </a:rPr>
              <a:t>Synthetic Testing</a:t>
            </a:r>
            <a:endParaRPr sz="132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76F34895-F299-423A-98FF-C2AAE72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5440680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BBCCD7"/>
                </a:solidFill>
                <a:latin typeface="Arial"/>
                <a:ea typeface="Arial"/>
                <a:cs typeface="Arial"/>
              </a:rPr>
              <a:t>CMO reactions and independent evaluation.</a:t>
            </a:r>
            <a:endParaRPr sz="103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E0A4AB13-3F96-4AFD-84F9-27870401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3694176"/>
            <a:ext cx="25146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5240">
            <a:solidFill>
              <a:srgbClr val="35C6D0"/>
            </a:solidFill>
            <a:prstDash val="solid"/>
          </a:ln>
        </p:spPr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018312cc8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385876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BC4B445D-5794-4202-92E6-0BA913D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3858768"/>
            <a:ext cx="179222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35C6D0"/>
                </a:solidFill>
                <a:latin typeface="Arial"/>
                <a:ea typeface="Arial"/>
                <a:cs typeface="Arial"/>
              </a:rPr>
              <a:t>Buyer Intelligence</a:t>
            </a:r>
            <a:endParaRPr sz="1320"/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69440734-8F11-4D84-8245-3ACE92C5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4123944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BBCCD7"/>
                </a:solidFill>
                <a:latin typeface="Arial"/>
                <a:ea typeface="Arial"/>
                <a:cs typeface="Arial"/>
              </a:rPr>
              <a:t>ICP, personas, signals and buying committees.</a:t>
            </a:r>
            <a:endParaRPr sz="1030"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FDF33E91-A29E-474F-B0C5-A81141CC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5010912"/>
            <a:ext cx="25146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5240">
            <a:solidFill>
              <a:srgbClr val="35C6D0"/>
            </a:solidFill>
            <a:prstDash val="solid"/>
          </a:ln>
        </p:spPr>
      </p:sp>
      <p:pic>
        <p:nvPicPr>
          <p:cNvPr id="7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095ff31bb49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517550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01F7BC3C-387E-47C1-B2C1-58E4201D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5175504"/>
            <a:ext cx="179222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35C6D0"/>
                </a:solidFill>
                <a:latin typeface="Arial"/>
                <a:ea typeface="Arial"/>
                <a:cs typeface="Arial"/>
              </a:rPr>
              <a:t>Learning System</a:t>
            </a:r>
            <a:endParaRPr sz="1320"/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2E2435D3-10D9-4292-9850-3D519CA9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5440680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BBCCD7"/>
                </a:solidFill>
                <a:latin typeface="Arial"/>
                <a:ea typeface="Arial"/>
                <a:cs typeface="Arial"/>
              </a:rPr>
              <a:t>Drafts, feedback, memory and iteration.</a:t>
            </a:r>
            <a:endParaRPr sz="1030"/>
          </a:p>
        </p:txBody>
      </p:sp>
      <p:sp>
        <p:nvSpPr>
          <p:cNvPr id="29" name="Shape 21">
            <a:extLst xmlns:a="http://schemas.openxmlformats.org/drawingml/2006/main">
              <a:ext uri="{FF2B5EF4-FFF2-40B4-BE49-F238E27FC236}">
                <a16:creationId xmlns:a16="http://schemas.microsoft.com/office/drawing/2014/main" id="{7A1B28AA-D649-4C78-BC9A-720DD13E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496" y="3941064"/>
            <a:ext cx="4242816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25400">
            <a:solidFill>
              <a:srgbClr val="19A968"/>
            </a:solidFill>
            <a:prstDash val="solid"/>
          </a:ln>
        </p:spPr>
      </p:sp>
      <p:sp>
        <p:nvSpPr>
          <p:cNvPr id="30" name="Shape 22">
            <a:extLst xmlns:a="http://schemas.openxmlformats.org/drawingml/2006/main">
              <a:ext uri="{FF2B5EF4-FFF2-40B4-BE49-F238E27FC236}">
                <a16:creationId xmlns:a16="http://schemas.microsoft.com/office/drawing/2014/main" id="{D5B88647-A495-4FB0-A612-AD44C09B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85616"/>
            <a:ext cx="314325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19050">
            <a:solidFill>
              <a:srgbClr val="19A968"/>
            </a:solidFill>
            <a:prstDash val="solid"/>
          </a:ln>
        </p:spPr>
      </p:sp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E50C3666-B0DF-44F0-9C44-7D5394E2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67912"/>
            <a:ext cx="295275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 spc="70">
                <a:solidFill>
                  <a:srgbClr val="19A968"/>
                </a:solidFill>
                <a:latin typeface="Arial"/>
                <a:ea typeface="Arial"/>
                <a:cs typeface="Arial"/>
              </a:rPr>
              <a:t>Boutique Marketing Agency</a:t>
            </a:r>
            <a:endParaRPr sz="1150"/>
          </a:p>
        </p:txBody>
      </p:sp>
      <p:sp>
        <p:nvSpPr>
          <p:cNvPr id="32" name="Shape 24">
            <a:extLst xmlns:a="http://schemas.openxmlformats.org/drawingml/2006/main">
              <a:ext uri="{FF2B5EF4-FFF2-40B4-BE49-F238E27FC236}">
                <a16:creationId xmlns:a16="http://schemas.microsoft.com/office/drawing/2014/main" id="{EF389582-F6B9-40BE-80D5-EADD6CE6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4187952"/>
            <a:ext cx="3840480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12700">
            <a:solidFill>
              <a:srgbClr val="19A968"/>
            </a:solidFill>
            <a:prstDash val="solid"/>
          </a:ln>
        </p:spPr>
      </p:sp>
      <p:pic>
        <p:nvPicPr>
          <p:cNvPr id="8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d5ad0a60e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7408" y="4242816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024FE489-BC87-45FC-BF9D-1EF50D77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4242816"/>
            <a:ext cx="3072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 b="1">
                <a:solidFill>
                  <a:srgbClr val="19A968"/>
                </a:solidFill>
                <a:latin typeface="Arial"/>
                <a:ea typeface="Arial"/>
                <a:cs typeface="Arial"/>
              </a:rPr>
              <a:t>Core Expertise</a:t>
            </a:r>
            <a:endParaRPr sz="1320"/>
          </a:p>
        </p:txBody>
      </p:sp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1D909F36-BBD4-46A7-BC55-9A8E5108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4480560"/>
            <a:ext cx="30723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30">
                <a:solidFill>
                  <a:srgbClr val="BBCCD7"/>
                </a:solidFill>
                <a:latin typeface="Arial"/>
                <a:ea typeface="Arial"/>
                <a:cs typeface="Arial"/>
              </a:rPr>
              <a:t>Strategy · Judgment · Relationships</a:t>
            </a:r>
            <a:endParaRPr sz="1030"/>
          </a:p>
        </p:txBody>
      </p:sp>
      <p:sp>
        <p:nvSpPr>
          <p:cNvPr id="36" name="Shape 27">
            <a:extLst xmlns:a="http://schemas.openxmlformats.org/drawingml/2006/main">
              <a:ext uri="{FF2B5EF4-FFF2-40B4-BE49-F238E27FC236}">
                <a16:creationId xmlns:a16="http://schemas.microsoft.com/office/drawing/2014/main" id="{9213F19D-0EC1-4FB0-853E-89276532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4864608"/>
            <a:ext cx="3840480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12700">
            <a:solidFill>
              <a:srgbClr val="19A968"/>
            </a:solidFill>
            <a:prstDash val="solid"/>
          </a:ln>
        </p:spPr>
      </p:sp>
      <p:pic>
        <p:nvPicPr>
          <p:cNvPr id="8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8f3fd613147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7408" y="49194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38" name="Text 28">
            <a:extLst xmlns:a="http://schemas.openxmlformats.org/drawingml/2006/main">
              <a:ext uri="{FF2B5EF4-FFF2-40B4-BE49-F238E27FC236}">
                <a16:creationId xmlns:a16="http://schemas.microsoft.com/office/drawing/2014/main" id="{779CABBB-6469-44DA-B89B-1D0F6C2B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4919472"/>
            <a:ext cx="3072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 b="1">
                <a:solidFill>
                  <a:srgbClr val="19A968"/>
                </a:solidFill>
                <a:latin typeface="Arial"/>
                <a:ea typeface="Arial"/>
                <a:cs typeface="Arial"/>
              </a:rPr>
              <a:t>Authority</a:t>
            </a:r>
            <a:endParaRPr sz="1320"/>
          </a:p>
        </p:txBody>
      </p:sp>
      <p:sp>
        <p:nvSpPr>
          <p:cNvPr id="39" name="Text 29">
            <a:extLst xmlns:a="http://schemas.openxmlformats.org/drawingml/2006/main">
              <a:ext uri="{FF2B5EF4-FFF2-40B4-BE49-F238E27FC236}">
                <a16:creationId xmlns:a16="http://schemas.microsoft.com/office/drawing/2014/main" id="{70DB928F-77F7-41C3-A2F1-E807F279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5157216"/>
            <a:ext cx="30723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30">
                <a:solidFill>
                  <a:srgbClr val="BBCCD7"/>
                </a:solidFill>
                <a:latin typeface="Arial"/>
                <a:ea typeface="Arial"/>
                <a:cs typeface="Arial"/>
              </a:rPr>
              <a:t>Brand Voice · Final Decisions · Directs the Work</a:t>
            </a:r>
            <a:endParaRPr sz="1030"/>
          </a:p>
        </p:txBody>
      </p:sp>
      <p:sp>
        <p:nvSpPr>
          <p:cNvPr id="40" name="Shape 30">
            <a:extLst xmlns:a="http://schemas.openxmlformats.org/drawingml/2006/main">
              <a:ext uri="{FF2B5EF4-FFF2-40B4-BE49-F238E27FC236}">
                <a16:creationId xmlns:a16="http://schemas.microsoft.com/office/drawing/2014/main" id="{0D4B128B-E8B7-4C02-AC57-6D73284E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4105656"/>
            <a:ext cx="4297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5C6D0"/>
            </a:solidFill>
            <a:prstDash val="solid"/>
            <a:headEnd type="none"/>
            <a:tailEnd type="triangle"/>
          </a:ln>
        </p:spPr>
      </p:sp>
      <p:sp>
        <p:nvSpPr>
          <p:cNvPr id="41" name="Shape 31">
            <a:extLst xmlns:a="http://schemas.openxmlformats.org/drawingml/2006/main">
              <a:ext uri="{FF2B5EF4-FFF2-40B4-BE49-F238E27FC236}">
                <a16:creationId xmlns:a16="http://schemas.microsoft.com/office/drawing/2014/main" id="{38B57371-DED9-4FC4-8737-5DC62F33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4105656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5C6D0"/>
            </a:solidFill>
            <a:prstDash val="solid"/>
            <a:headEnd type="triangle"/>
            <a:tailEnd type="none"/>
          </a:ln>
        </p:spPr>
      </p:sp>
      <p:sp>
        <p:nvSpPr>
          <p:cNvPr id="42" name="Shape 32">
            <a:extLst xmlns:a="http://schemas.openxmlformats.org/drawingml/2006/main">
              <a:ext uri="{FF2B5EF4-FFF2-40B4-BE49-F238E27FC236}">
                <a16:creationId xmlns:a16="http://schemas.microsoft.com/office/drawing/2014/main" id="{E6EEE97B-FCE4-466B-97FA-989593A5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5422392"/>
            <a:ext cx="4297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5C6D0"/>
            </a:solidFill>
            <a:prstDash val="solid"/>
            <a:headEnd type="none"/>
            <a:tailEnd type="triangle"/>
          </a:ln>
        </p:spPr>
      </p:sp>
      <p:sp>
        <p:nvSpPr>
          <p:cNvPr id="43" name="Shape 33">
            <a:extLst xmlns:a="http://schemas.openxmlformats.org/drawingml/2006/main">
              <a:ext uri="{FF2B5EF4-FFF2-40B4-BE49-F238E27FC236}">
                <a16:creationId xmlns:a16="http://schemas.microsoft.com/office/drawing/2014/main" id="{3027CC90-8006-46CC-B83E-2F3EA071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542239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5C6D0"/>
            </a:solidFill>
            <a:prstDash val="solid"/>
            <a:headEnd type="triangle"/>
            <a:tailEnd type="none"/>
          </a:ln>
        </p:spPr>
      </p:sp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50849E42-F532-4080-8432-BCFF56B7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04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24646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5B109-AD87-468C-8891-218A8A2B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WHAT THE LAB ADDS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8734-E683-41BF-85BE-6F26E123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More depth before the pitch, more tailored material during it, and faster learning afterward.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FB010-9DE0-4836-B993-3274123B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429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B2676-B760-4F95-8D44-ECE71E68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38400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71827"/>
                </a:solidFill>
              </a:defRPr>
            </a:pPr>
            <a:r>
              <a:rPr sz="1725" b="1">
                <a:solidFill>
                  <a:srgbClr val="071827"/>
                </a:solidFill>
              </a:rPr>
              <a:t>Market &amp; Buyer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C15A2-CA35-414A-8E98-0E18FB86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04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Market and competitor research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ICP and buyer-persona development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Target-account and buying-committee intelligence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Trigger events, buying signals and risks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7AE3F-DFE1-40FC-88BF-882693A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8DF77-CC67-41E1-9CF1-44AECCED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38400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71827"/>
                </a:solidFill>
              </a:defRPr>
            </a:pPr>
            <a:r>
              <a:rPr sz="1725" b="1">
                <a:solidFill>
                  <a:srgbClr val="071827"/>
                </a:solidFill>
              </a:rPr>
              <a:t>AI-Powered Pitch Creation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F02FF-EF6C-4AE1-9041-C9FB5BD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304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Account-specific value hypotheses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Tailored decks, proposals and outreach angles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Offer and message variants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Next-best-action recommendations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7137C-03FC-4483-A7D2-299E5B0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2004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48CE1-7469-4DA4-84CC-86FF8260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38400"/>
            <a:ext cx="2390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71827"/>
                </a:solidFill>
              </a:defRPr>
            </a:pPr>
            <a:r>
              <a:rPr sz="1725" b="1">
                <a:solidFill>
                  <a:srgbClr val="071827"/>
                </a:solidFill>
              </a:rPr>
              <a:t>Adaptive Learning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CDDA3-4F54-4176-9E44-F6A38784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2819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Synthetic CMO concept testing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Independent evidence and execution checks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 feedback captured as reusable context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Every iteration improves the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6EE8F-4F97-42AA-A282-40B205E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c52cf2fce4ef7"/>
          <a:stretch xmlns:a="http://schemas.openxmlformats.org/drawingml/2006/main"/>
        </p:blipFill>
        <p:spPr>
          <a:xfrm xmlns:a="http://schemas.openxmlformats.org/drawingml/2006/main">
            <a:off x="800100" y="25431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e9f50f9364cca"/>
          <a:stretch xmlns:a="http://schemas.openxmlformats.org/drawingml/2006/main"/>
        </p:blipFill>
        <p:spPr>
          <a:xfrm xmlns:a="http://schemas.openxmlformats.org/drawingml/2006/main">
            <a:off x="4572000" y="25431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a185eed2e4cc9"/>
          <a:stretch xmlns:a="http://schemas.openxmlformats.org/drawingml/2006/main"/>
        </p:blipFill>
        <p:spPr>
          <a:xfrm xmlns:a="http://schemas.openxmlformats.org/drawingml/2006/main">
            <a:off x="8343900" y="254317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04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AAD03-474E-40F9-BAA2-BDB78622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ONE-WEEK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DF341-C3EA-475B-9BEC-A17C0200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Start broad, decide together, then go deep on three companies.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43735-B02D-4256-ACC4-96D359C1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95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54768-B346-45D7-B8EC-E5F7DFFD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827"/>
                </a:solidFill>
              </a:defRPr>
            </a:pPr>
            <a:r>
              <a:rPr sz="1650" b="1">
                <a:solidFill>
                  <a:srgbClr val="071827"/>
                </a:solidFill>
              </a:rPr>
              <a:t>Boutique Marketing Agency</a:t>
            </a:r>
            <a:r>
              <a:rPr sz="1650" b="1">
                <a:solidFill>
                  <a:srgbClr val="071827"/>
                </a:solidFill>
              </a:rPr>
              <a:t>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662E7-C89B-4AEF-886E-5CC151C6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908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9B91"/>
                </a:solidFill>
              </a:defRPr>
            </a:pPr>
            <a:r>
              <a:rPr sz="2100" b="1">
                <a:solidFill>
                  <a:srgbClr val="159B91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B8D54-D1D3-4C60-AC76-6B931909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14650"/>
            <a:ext cx="2095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12584-E7B9-4D95-9A2C-A3B312A6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827"/>
                </a:solidFill>
              </a:defRPr>
            </a:pPr>
            <a:r>
              <a:rPr sz="1650" b="1">
                <a:solidFill>
                  <a:srgbClr val="071827"/>
                </a:solidFill>
              </a:rPr>
              <a:t>10 candidates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ADE4E-7250-4348-9D3E-9CF3AB1F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9B91"/>
                </a:solidFill>
              </a:defRPr>
            </a:pPr>
            <a:r>
              <a:rPr sz="2100" b="1">
                <a:solidFill>
                  <a:srgbClr val="159B91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0D74C-DC13-46DB-9622-E8FB207A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14650"/>
            <a:ext cx="2095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A89B1-E542-4CC9-BAFB-1CB09F48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71827"/>
                </a:solidFill>
              </a:defRPr>
            </a:pPr>
            <a:r>
              <a:rPr sz="1650" b="1">
                <a:solidFill>
                  <a:srgbClr val="071827"/>
                </a:solidFill>
              </a:rPr>
              <a:t>Shared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2CD16-A5A4-4E72-BBE9-FC96B9ED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908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9B91"/>
                </a:solidFill>
              </a:defRPr>
            </a:pPr>
            <a:r>
              <a:rPr sz="2100" b="1">
                <a:solidFill>
                  <a:srgbClr val="159B91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71902-47DF-481C-867F-8DA3F485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2095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7F75"/>
          </a:solidFill>
          <a:ln xmlns:a="http://schemas.openxmlformats.org/drawingml/2006/main" w="11430">
            <a:solidFill>
              <a:srgbClr val="087F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3C80C-A2CC-4B36-9B43-7FA5E77D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 deep dives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4CCC6-AB0E-44D4-97F6-5A5FD377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33525"/>
            <a:ext cx="106984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150" b="0">
                <a:solidFill>
                  <a:srgbClr val="455667"/>
                </a:solidFill>
              </a:defRPr>
            </a:pPr>
            <a:r>
              <a:rPr sz="1150" b="0">
                <a:solidFill>
                  <a:srgbClr val="455667"/>
                </a:solidFill>
              </a:rPr>
              <a:t>The system turns a few practical inputs into a researched shortlist; </a:t>
            </a:r>
            <a:r>
              <a:rPr sz="1150" b="0">
                <a:solidFill>
                  <a:srgbClr val="455667"/>
                </a:solidFill>
              </a:rPr>
              <a:t>Boutique Marketing Agency</a:t>
            </a:r>
            <a:r>
              <a:rPr sz="1150" b="0">
                <a:solidFill>
                  <a:srgbClr val="455667"/>
                </a:solidFill>
              </a:rPr>
              <a:t> and Michael choose the three accounts worth a full pitch package.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8E22F-CD82-41C7-9ED6-44A0E661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87F75"/>
                </a:solidFill>
              </a:defRPr>
            </a:pPr>
            <a:r>
              <a:rPr sz="1200" b="1">
                <a:solidFill>
                  <a:srgbClr val="087F75"/>
                </a:solidFill>
              </a:rPr>
              <a:t>No formal onboarding — just enough context to start intelligently.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5A36A-8E64-4171-853B-83CA05AF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6250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03D11B-49A8-4429-B8B2-58ACDE5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THE TEN-COMPANY SHORTLIST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ADBC0-1825-41F0-9186-99B35DAA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Illustrative example: a decision-ready opportunity scorecard.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9FCE3-B677-4935-9AEB-0B01AFEE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2479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A97D3-49B6-4793-8828-788399A2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1486F-0950-4B2F-AB3D-A77DD89E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6192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22683-8A20-4C82-9C3C-1FCFCF01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Account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2D585-36EC-419A-93A9-B9B5916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1714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182CE-9894-42E6-A2E4-87D46D3F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Buying Signals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1E2E0-D70B-46D2-81F0-3AA14FF8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714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78168-E7CF-4D6D-8341-3C8D9F7C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Illustrative Fit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5C60F-95AE-481B-9042-5F89CC1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714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3F5DF-77A9-4B03-8BAD-29B50F10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Opportunity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1DCE6-3B18-4210-BC2A-72DB299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43150"/>
            <a:ext cx="17335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81A82-A5F3-4452-B8A0-5222DC7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Next Best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FF7B7-4F6A-4ABF-BF81-955BA2DE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2479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B9C34-54DA-4A1C-8394-78089398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71827"/>
                </a:solidFill>
              </a:defRPr>
            </a:pPr>
            <a:r>
              <a:rPr sz="1200" b="1">
                <a:solidFill>
                  <a:srgbClr val="071827"/>
                </a:solidFill>
              </a:rPr>
              <a:t>Candidate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4907A-041C-48CD-BEA7-FDC86B37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6192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F3F78-C8D2-49CB-A1E8-4ADAA15F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908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High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2033D-1970-4539-9B41-647A6566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C4115-9221-467C-81E0-E563177E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908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3 triggers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F6A46-8049-4D52-9960-9D69BE7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7E1BB-F21B-45ED-9F2D-852C9A82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68%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35CEA-AFDD-4DDB-9BC2-1F8579A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FBF84-82DB-4CAA-8815-1B214F59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Estimated range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84E10-E804-44A8-B2C4-C03FB227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AD07B-80C3-4C7C-982D-B2FA8C3B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908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Warm intro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DB8F3E-670A-41E4-A04C-96A9DE64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2479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C96E6-1B9D-4456-9767-8D471FAF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827"/>
                </a:solidFill>
              </a:defRPr>
            </a:pPr>
            <a:r>
              <a:rPr sz="1050" b="1">
                <a:solidFill>
                  <a:srgbClr val="071827"/>
                </a:solidFill>
              </a:rPr>
              <a:t>Candidate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01222F-D038-4C0D-9DFD-94EB3A9B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6192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F31813-086C-4C45-ADD7-82DCE12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957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Medium-high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10970D-2B28-4ED3-BAA3-27CA40DF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29E7B9-BD66-4E3F-97F2-62B97F92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2 triggers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0AED4F-82AB-4AB2-A2AF-32B3E346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7E6738-2B16-4312-9328-227ADA1B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54%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52D9D0-2CB2-4CB6-95FF-C1F4C4E9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0CD060-B585-42CF-A236-3FAE401E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Estimated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BFD619-CF66-4EC9-8B60-EE4D5EBD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A7C3D4-7748-4966-9D91-90AD57F0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9570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Insight pitch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8B05F1-62C2-46A4-87AB-8547078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2479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485370-5CDD-40FA-98A2-FEDFE6F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827"/>
                </a:solidFill>
              </a:defRPr>
            </a:pPr>
            <a:r>
              <a:rPr sz="1050" b="1">
                <a:solidFill>
                  <a:srgbClr val="071827"/>
                </a:solidFill>
              </a:rPr>
              <a:t>Candidate 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E87490-AC9D-4CDD-8744-CF4C3F7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16192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002E34-1762-447B-801F-D6B5AE90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005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High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DA8B39-27F4-4EF8-A134-F8EAC76B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4A7EF1-735F-4C91-B56B-63905586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005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Strong intent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4325E2-6B8D-4476-A657-EC24476B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A2DCA7-95CE-43CF-88B1-6F6E4FED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61%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9D63DA-F7A7-4126-97D1-220536E9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B8D371-A101-431E-A5FA-CEE8779A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005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Estimated range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0C9C85-B7BE-455C-B35F-8AF63F28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05300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D9125B-ECA3-4E63-BC7E-2E8C6C98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005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CMO brief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0CCE22-FA22-4D69-9E3D-A1D209A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744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BFF5E9"/>
          </a:solidFill>
          <a:ln xmlns:a="http://schemas.openxmlformats.org/drawingml/2006/main" w="9525">
            <a:solidFill>
              <a:srgbClr val="BFF5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85AA1A-411D-43D8-BFDC-0B216173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75"/>
                </a:solidFill>
              </a:defRPr>
            </a:pPr>
            <a:r>
              <a:rPr sz="1350" b="1">
                <a:solidFill>
                  <a:srgbClr val="087F75"/>
                </a:solidFill>
              </a:rPr>
              <a:t>Probability-Adjusted Pipeline Value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7C341-E37A-434F-AB1E-DEFBAED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674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71827"/>
                </a:solidFill>
              </a:defRPr>
            </a:pPr>
            <a:r>
              <a:rPr sz="1350" b="1">
                <a:solidFill>
                  <a:srgbClr val="071827"/>
                </a:solidFill>
              </a:rPr>
              <a:t>Illustrative data only — not measured win probabilities or forecasts.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996278-0D50-4DCF-824F-1D342020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9957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0A580-4E50-4B69-ADA7-978931D4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THREE DEEP-DIVE PACKAGES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2E9B3-0933-42EE-92EA-71614C2A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A complete, account-specific path into the conversation for each selected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AB20C-43E3-43DB-B5BA-482C3C34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000250" cy="2047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E9563-2645-4040-9C24-71987253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E7468-659B-4810-B4A0-10A59583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Research the account, priorities and buying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D3178-DC0D-42E1-95EE-FC6CA6E9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67000"/>
            <a:ext cx="2000250" cy="2047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3548E-A1C3-4AEF-9664-039DCB42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051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C9F5F-5DA7-4EB1-B45C-F3D713DA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76625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Develop relevant ideas and value hypotheses.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10794-066C-4343-A91F-DCA983C3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67000"/>
            <a:ext cx="2000250" cy="2047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A05CB-5EF0-484D-B5FF-53037BCC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051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DDED0-D8D7-402D-8E3A-DAC6DBE8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76625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Shape the offer, message and entry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CC6F2-DBDC-433E-9D86-D2223C6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8FEF9-D70F-49D2-B3C1-D9585835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2000250" cy="2047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6BE88-479A-4576-9736-4C276955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051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48E8D-476E-49C0-B8E4-EECB838A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76625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55667"/>
                </a:solidFill>
                <a:latin typeface="Arial"/>
                <a:ea typeface="Arial"/>
                <a:cs typeface="Arial"/>
              </a:rPr>
              <a:t>Test buyer reactions, evidence and objections.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F80BB-91FB-45B8-8BD2-9F47037E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2000250" cy="2047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7F75"/>
          </a:solidFill>
          <a:ln xmlns:a="http://schemas.openxmlformats.org/drawingml/2006/main" w="11430">
            <a:solidFill>
              <a:srgbClr val="087F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2A1A9-DA63-4A14-B962-E759BAB2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051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D0B8E-DD0D-4853-86E7-F0A14D43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76625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Improve the approach and finalize the pitch package.</a:t>
            </a:r>
          </a:p>
        </p:txBody>
      </p:sp>
      <p:cxnSp>
        <p:nvCxnSpPr>
          <p:cNvPr id="52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09850" y="369093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59B91"/>
            </a:solidFill>
            <a:tailEnd type="triangle" w="sm" len="sm"/>
          </a:ln>
        </p:spPr>
      </p:cxnSp>
      <p:cxnSp>
        <p:nvCxnSpPr>
          <p:cNvPr id="52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00600" y="369093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59B91"/>
            </a:solidFill>
            <a:tailEnd type="triangle" w="sm" len="sm"/>
          </a:ln>
        </p:spPr>
      </p:cxnSp>
      <p:cxnSp>
        <p:nvCxnSpPr>
          <p:cNvPr id="528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91350" y="369093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59B91"/>
            </a:solidFill>
            <a:tailEnd type="triangle" w="sm" len="sm"/>
          </a:ln>
        </p:spPr>
      </p:cxnSp>
      <p:cxnSp>
        <p:nvCxnSpPr>
          <p:cNvPr id="52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182100" y="369093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59B91"/>
            </a:solidFill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17013-A689-4FA2-B2AC-F5C585E2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238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87F75"/>
                </a:solidFill>
                <a:latin typeface="Arial"/>
                <a:ea typeface="Arial"/>
                <a:cs typeface="Arial"/>
              </a:rPr>
              <a:t>Use feedback to sharpen the positioning</a:t>
            </a:r>
          </a:p>
        </p:txBody>
      </p:sp>
      <p:sp>
        <p:nvSpPr>
          <p:cNvPr id="462" name="Evaluate to Position feedback return">
            <a:extLst xmlns:a="http://schemas.openxmlformats.org/drawingml/2006/main">
              <a:ext uri="{FF2B5EF4-FFF2-40B4-BE49-F238E27FC236}">
                <a16:creationId xmlns:a16="http://schemas.microsoft.com/office/drawing/2014/main" id="{07BDB928-8BAF-4523-939A-0E3C78D4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733925"/>
            <a:ext cx="2190750" cy="409575"/>
          </a:xfrm>
          <a:custGeom xmlns:a="http://schemas.openxmlformats.org/drawingml/2006/main">
            <a:pathLst>
              <a:path w="2190750" h="409575">
                <a:moveTo>
                  <a:pt x="2190750" y="0"/>
                </a:moveTo>
                <a:lnTo>
                  <a:pt x="2190750" y="409575"/>
                </a:lnTo>
                <a:lnTo>
                  <a:pt x="0" y="409575"/>
                </a:ln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5"/>
            </a:solidFill>
          </a:ln>
        </p:spPr>
      </p:sp>
      <p:sp>
        <p:nvSpPr>
          <p:cNvPr id="463" name="Feedback arrowhead into Position">
            <a:extLst xmlns:a="http://schemas.openxmlformats.org/drawingml/2006/main">
              <a:ext uri="{FF2B5EF4-FFF2-40B4-BE49-F238E27FC236}">
                <a16:creationId xmlns:a16="http://schemas.microsoft.com/office/drawing/2014/main" id="{03604305-2C9D-424F-A68D-70ADC3B6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14875"/>
            <a:ext cx="76200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44028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FECFD-A170-456E-8260-0CF2407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SELF-IMPROVING INTELLIGENCE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21F3B-6BC6-48C3-9676-FF7F2215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Useful feedback compounds into better work across every iteration.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BB5E9-76C0-4716-B013-3F2BE4F0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676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F57AA-04C9-40CA-B43E-3A08A497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71827"/>
                </a:solidFill>
              </a:defRPr>
            </a:pPr>
            <a:r>
              <a:rPr sz="1350" b="1">
                <a:solidFill>
                  <a:srgbClr val="071827"/>
                </a:solidFill>
              </a:rPr>
              <a:t>Draft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5E1EF-0FEA-4A27-B590-1BEA06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385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75"/>
                </a:solidFill>
              </a:defRPr>
            </a:pPr>
            <a:r>
              <a:rPr sz="1875" b="1">
                <a:solidFill>
                  <a:srgbClr val="087F75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D2E03-3517-4789-AF12-B9337532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9900"/>
            <a:ext cx="1676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B168C-34F2-456B-8D63-1F1DBF58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194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71827"/>
                </a:solidFill>
              </a:defRPr>
            </a:pPr>
            <a:r>
              <a:rPr sz="1350" b="1">
                <a:solidFill>
                  <a:srgbClr val="071827"/>
                </a:solidFill>
              </a:rPr>
              <a:t>CMO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559E2-DC2A-4C6C-9FA7-31DD55D4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75"/>
                </a:solidFill>
              </a:defRPr>
            </a:pPr>
            <a:r>
              <a:rPr sz="1875" b="1">
                <a:solidFill>
                  <a:srgbClr val="087F7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BFD49-E56E-4A45-8625-2F62E160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1676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740B2-344A-4007-8676-8B899C77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71827"/>
                </a:solidFill>
              </a:defRPr>
            </a:pPr>
            <a:r>
              <a:rPr sz="1350" b="1">
                <a:solidFill>
                  <a:srgbClr val="071827"/>
                </a:solidFill>
              </a:rPr>
              <a:t>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081B5-47CD-4011-8AEC-30322AA6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75"/>
                </a:solidFill>
              </a:defRPr>
            </a:pPr>
            <a:r>
              <a:rPr sz="1875" b="1">
                <a:solidFill>
                  <a:srgbClr val="087F7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4B113-5DC6-472A-A11F-1DBC2D25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1676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75"/>
          </a:solidFill>
          <a:ln xmlns:a="http://schemas.openxmlformats.org/drawingml/2006/main" w="9525">
            <a:solidFill>
              <a:srgbClr val="087F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A3122-0175-45B4-87E3-9F1E77EE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Boutique Marketing Agency</a:t>
            </a:r>
            <a:r>
              <a:rPr sz="1350" b="1">
                <a:solidFill>
                  <a:srgbClr val="FFFFFF"/>
                </a:solidFill>
              </a:rPr>
              <a:t>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22D92-EC0E-4099-AF49-516ECA46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75"/>
                </a:solidFill>
              </a:defRPr>
            </a:pPr>
            <a:r>
              <a:rPr sz="1875" b="1">
                <a:solidFill>
                  <a:srgbClr val="087F7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29BFC-45FA-4C32-BBFB-FED041C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1676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4A213-A7E0-4C3C-8DE0-C4169BED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194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71827"/>
                </a:solidFill>
              </a:defRPr>
            </a:pPr>
            <a:r>
              <a:rPr sz="1350" b="1">
                <a:solidFill>
                  <a:srgbClr val="071827"/>
                </a:solidFill>
              </a:rPr>
              <a:t>Improved Draft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BB1AA-E235-4AD1-915B-48E0F4B5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52625"/>
            <a:ext cx="106984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150" b="0">
                <a:solidFill>
                  <a:srgbClr val="455667"/>
                </a:solidFill>
              </a:defRPr>
            </a:pPr>
            <a:r>
              <a:rPr sz="1150" b="0">
                <a:solidFill>
                  <a:srgbClr val="455667"/>
                </a:solidFill>
              </a:rPr>
              <a:t>Approved feedback updates shared memory, prompts, routing rules and working playbooks — so each next package starts smarter.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3A41A-1D2D-46DA-BAE2-1FCA1F7C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9594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DF3C9-7024-45D7-9DCB-2AD25F8F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AT THE END OF THE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9B43A-C128-45BC-8A2D-548FC091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Three strong account packages — and a smarter system for the next ten.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1B424-42BF-4A4A-B736-B49C5E12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48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AF5"/>
          </a:solidFill>
          <a:ln xmlns:a="http://schemas.openxmlformats.org/drawingml/2006/main" w="11430">
            <a:solidFill>
              <a:srgbClr val="69B9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F9EB-91A0-4113-B091-2760D27B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289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7F75"/>
                </a:solidFill>
              </a:defRPr>
            </a:pPr>
            <a:r>
              <a:rPr sz="1800" b="1">
                <a:solidFill>
                  <a:srgbClr val="087F75"/>
                </a:solidFill>
              </a:rPr>
              <a:t>Immediate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438C2-3E24-45E3-A577-4CA229B6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466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Three researched target accounts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Three tailored pitch packages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Buyer-tested message and offer variants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Clear next-best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5834F-F2FA-477C-9625-00306050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53530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0F9FB"/>
          </a:solidFill>
          <a:ln xmlns:a="http://schemas.openxmlformats.org/drawingml/2006/main" w="11430">
            <a:solidFill>
              <a:srgbClr val="69BF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15A90-752D-4CDE-8B83-6E794138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28900"/>
            <a:ext cx="454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8B9A"/>
                </a:solidFill>
              </a:defRPr>
            </a:pPr>
            <a:r>
              <a:rPr sz="1800" b="1">
                <a:solidFill>
                  <a:srgbClr val="128B9A"/>
                </a:solidFill>
              </a:rPr>
              <a:t>Reusable 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AEF06-F922-4A15-839C-48AA27FC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9720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Sharper ICP and buyer-persona models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Reusable research and scoring playbooks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Learned </a:t>
            </a: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 voice and decision preferences</a:t>
            </a:r>
          </a:p>
          <a:p xmlns:a="http://schemas.openxmlformats.org/drawingml/2006/main"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A foundation for a future partnership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D8EF8-2383-4481-B1CD-6EFA57BE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BFF5E9"/>
          </a:solidFill>
          <a:ln xmlns:a="http://schemas.openxmlformats.org/drawingml/2006/main" w="9525">
            <a:solidFill>
              <a:srgbClr val="BFF5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E3A77-8C20-42A0-98B6-CFA4B3D5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75"/>
                </a:solidFill>
              </a:defRPr>
            </a:pPr>
            <a:r>
              <a:rPr sz="1350" b="1">
                <a:solidFill>
                  <a:srgbClr val="087F75"/>
                </a:solidFill>
              </a:rPr>
              <a:t>Next: choose the starting market and preferred review rhythm.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37D69-8109-4941-91C6-3F7D068F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39aa061ce42b1"/>
          <a:stretch xmlns:a="http://schemas.openxmlformats.org/drawingml/2006/main"/>
        </p:blipFill>
        <p:spPr>
          <a:xfrm xmlns:a="http://schemas.openxmlformats.org/drawingml/2006/main">
            <a:off x="800100" y="263842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499bf02dd409e"/>
          <a:stretch xmlns:a="http://schemas.openxmlformats.org/drawingml/2006/main"/>
        </p:blipFill>
        <p:spPr>
          <a:xfrm xmlns:a="http://schemas.openxmlformats.org/drawingml/2006/main">
            <a:off x="6191250" y="2638425"/>
            <a:ext cx="304800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69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03D11B-49A8-4429-B8B2-58ACDE5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PLATFORM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ADBC0-1825-41F0-9186-99B35DAA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Marketing platforms and the </a:t>
            </a:r>
            <a:r>
              <a:rPr sz="2700" b="1">
                <a:solidFill>
                  <a:srgbClr val="071827"/>
                </a:solidFill>
              </a:rPr>
              <a:t>Boutique Marketing Agency</a:t>
            </a:r>
            <a:r>
              <a:rPr sz="2700" b="1">
                <a:solidFill>
                  <a:srgbClr val="071827"/>
                </a:solidFill>
              </a:rPr>
              <a:t>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9FCE3-B677-4935-9AEB-0B01AFEE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2479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A97D3-49B6-4793-8828-788399A2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1486F-0950-4B2F-AB3D-A77DD89E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6192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22683-8A20-4C82-9C3C-1FCFCF01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6sense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2D585-36EC-419A-93A9-B9B5916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1714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182CE-9894-42E6-A2E4-87D46D3F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Demandbase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1E2E0-D70B-46D2-81F0-3AA14FF8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714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78168-E7CF-4D6D-8341-3C8D9F7C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Semrush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5C60F-95AE-481B-9042-5F89CC1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714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3F5DF-77A9-4B03-8BAD-29B50F10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HubSpot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1DCE6-3B18-4210-BC2A-72DB299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43150"/>
            <a:ext cx="17335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81A82-A5F3-4452-B8A0-5222DC7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Boutique Marketing Agency</a:t>
            </a:r>
            <a:r>
              <a:rPr sz="1050" b="1">
                <a:solidFill>
                  <a:srgbClr val="FFFFFF"/>
                </a:solidFill>
              </a:rPr>
              <a:t> + 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FF7B7-4F6A-4ABF-BF81-955BA2DE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2479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B9C34-54DA-4A1C-8394-78089398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71827"/>
                </a:solidFill>
              </a:defRPr>
            </a:pPr>
            <a:r>
              <a:rPr sz="1200" b="1">
                <a:solidFill>
                  <a:srgbClr val="071827"/>
                </a:solidFill>
              </a:rPr>
              <a:t>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4907A-041C-48CD-BEA7-FDC86B37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6192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F3F78-C8D2-49CB-A1E8-4ADAA15F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908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Predictive account intelligence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2033D-1970-4539-9B41-647A6566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C4115-9221-467C-81E0-E563177E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908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Account identification and engagement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F6A46-8049-4D52-9960-9D69BE7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7E1BB-F21B-45ED-9F2D-852C9A82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Market and SEO visibility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35CEA-AFDD-4DDB-9BC2-1F8579A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FBF84-82DB-4CAA-8815-1B214F59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CRM-connected marketing automation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84E10-E804-44A8-B2C4-C03FB227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AD07B-80C3-4C7C-982D-B2FA8C3B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908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Tailored research-to-pitch 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DB8F3E-670A-41E4-A04C-96A9DE64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2479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C96E6-1B9D-4456-9767-8D471FAF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827"/>
                </a:solidFill>
              </a:defRPr>
            </a:pPr>
            <a:r>
              <a:rPr sz="1050" b="1">
                <a:solidFill>
                  <a:srgbClr val="071827"/>
                </a:solidFill>
              </a:rPr>
              <a:t>Capabilities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01222F-D038-4C0D-9DFD-94EB3A9B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6192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F31813-086C-4C45-ADD7-82DCE12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957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Intent signals, scoring, orchestration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10970D-2B28-4ED3-BAA3-27CA40DF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29E7B9-BD66-4E3F-97F2-62B97F92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Account intelligence, advertising, personalization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0AED4F-82AB-4AB2-A2AF-32B3E346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7E6738-2B16-4312-9328-227ADA1B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Competitor analysis, content, AI visibility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52D9D0-2CB2-4CB6-95FF-C1F4C4E9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0CD060-B585-42CF-A236-3FAE401E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Campaigns, automation, reporting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BFD619-CF66-4EC9-8B60-EE4D5EBD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A7C3D4-7748-4966-9D91-90AD57F0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9570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Research, presentations, outreach packages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8B05F1-62C2-46A4-87AB-8547078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2479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485370-5CDD-40FA-98A2-FEDFE6F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827"/>
                </a:solidFill>
              </a:defRPr>
            </a:pPr>
            <a:r>
              <a:rPr sz="1050" b="1">
                <a:solidFill>
                  <a:srgbClr val="071827"/>
                </a:solidFill>
              </a:rPr>
              <a:t>Pilot role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E87490-AC9D-4CDD-8744-CF4C3F7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16192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002E34-1762-447B-801F-D6B5AE90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005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Possible intent data source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DA8B39-27F4-4EF8-A134-F8EAC76B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4A7EF1-735F-4C91-B56B-63905586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005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Possible account intelligence source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4325E2-6B8D-4476-A657-EC24476B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A2DCA7-95CE-43CF-88B1-6F6E4FED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Possible market insight source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9D63DA-F7A7-4126-97D1-220536E9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17145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B8D371-A101-431E-A5FA-CEE8779A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005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Possible CRM and automation source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0C9C85-B7BE-455C-B35F-8AF63F28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05300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D9125B-ECA3-4E63-BC7E-2E8C6C98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005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071827"/>
                </a:solidFill>
              </a:defRPr>
            </a:pPr>
            <a:r>
              <a:rPr sz="1050" b="0">
                <a:solidFill>
                  <a:srgbClr val="071827"/>
                </a:solidFill>
              </a:rPr>
              <a:t>Joint selection, tailored pitch packages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0CCE22-FA22-4D69-9E3D-A1D209A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744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BFF5E9"/>
          </a:solidFill>
          <a:ln xmlns:a="http://schemas.openxmlformats.org/drawingml/2006/main" w="9525">
            <a:solidFill>
              <a:srgbClr val="BFF5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85AA1A-411D-43D8-BFDC-0B216173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75"/>
                </a:solidFill>
              </a:defRPr>
            </a:pPr>
            <a:r>
              <a:rPr sz="1350" b="1">
                <a:solidFill>
                  <a:srgbClr val="087F75"/>
                </a:solidFill>
              </a:rPr>
              <a:t>Pilot Service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7C341-E37A-434F-AB1E-DEFBAED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674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71827"/>
                </a:solidFill>
              </a:defRPr>
            </a:pPr>
            <a:r>
              <a:rPr sz="1350" b="1">
                <a:solidFill>
                  <a:srgbClr val="071827"/>
                </a:solidFill>
              </a:rPr>
              <a:t>Tailored research-to-pitch, not platform replacement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996278-0D50-4DCF-824F-1D342020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699578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5B109-AD87-468C-8891-218A8A2B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8734-E683-41BF-85BE-6F26E123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Capabilities: deeper audience insight and AI-assisted evaluation.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FB010-9DE0-4836-B993-3274123B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429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B2676-B760-4F95-8D44-ECE71E68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336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827"/>
                </a:solidFill>
              </a:defRPr>
            </a:pPr>
            <a:r>
              <a:rPr sz="1800" b="1">
                <a:solidFill>
                  <a:srgbClr val="071827"/>
                </a:solidFill>
              </a:rPr>
              <a:t>Audience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C15A2-CA35-414A-8E98-0E18FB86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04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Target audience segmentation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ICP &amp; account-fit scoring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Buyer persona modeling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Buying-group mapping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Jobs-to-be-done analysis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Public buying-signal monitoring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Competitive &amp; market mapping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7AE3F-DFE1-40FC-88BF-882693A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8DF77-CC67-41E1-9CF1-44AECCED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336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827"/>
                </a:solidFill>
              </a:defRPr>
            </a:pPr>
            <a:r>
              <a:rPr sz="1800" b="1">
                <a:solidFill>
                  <a:srgbClr val="071827"/>
                </a:solidFill>
              </a:rPr>
              <a:t>Synthetic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F02FF-EF6C-4AE1-9041-C9FB5BD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Synthetic buyer panels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Simulated audience polling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AI-moderated focus-group simulation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Concept &amp; message testing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Value-proposition testing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Objection &amp; scenario simulation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Pairwise pitch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7137C-03FC-4483-A7D2-299E5B0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2004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48CE1-7469-4DA4-84CC-86FF8260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533650"/>
            <a:ext cx="2390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827"/>
                </a:solidFill>
              </a:defRPr>
            </a:pPr>
            <a:r>
              <a:rPr sz="1800" b="1">
                <a:solidFill>
                  <a:srgbClr val="071827"/>
                </a:solidFill>
              </a:rPr>
              <a:t>Evaluation &amp;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CDDA3-4F54-4176-9E44-F6A38784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2819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Rubric-based evaluation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LLM-as-a-judge review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Multi-persona scorecards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Human-in-the-loop calibration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 feedback &amp; account memory</a:t>
            </a:r>
          </a:p>
          <a:p xmlns:a="http://schemas.openxmlformats.org/drawingml/2006/main">
            <a:r>
              <a:rPr sz="675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Iterative pitch refinement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6EE8F-4F97-42AA-A282-40B205E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f63d82e1d4634"/>
          <a:stretch xmlns:a="http://schemas.openxmlformats.org/drawingml/2006/main"/>
        </p:blipFill>
        <p:spPr>
          <a:xfrm xmlns:a="http://schemas.openxmlformats.org/drawingml/2006/main">
            <a:off x="800100" y="25431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ccc0e31f34580"/>
          <a:stretch xmlns:a="http://schemas.openxmlformats.org/drawingml/2006/main"/>
        </p:blipFill>
        <p:spPr>
          <a:xfrm xmlns:a="http://schemas.openxmlformats.org/drawingml/2006/main">
            <a:off x="4572000" y="25431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565730b8949e9"/>
          <a:stretch xmlns:a="http://schemas.openxmlformats.org/drawingml/2006/main"/>
        </p:blipFill>
        <p:spPr>
          <a:xfrm xmlns:a="http://schemas.openxmlformats.org/drawingml/2006/main">
            <a:off x="8343900" y="25431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D8F16-37D7-4F4C-AB7A-C1E722D4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57850"/>
            <a:ext cx="10696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AUDIENCE MODEL  →  SIMULATED PANEL  →  AI EVALUATION  →  </a:t>
            </a:r>
            <a:r>
              <a:rPr sz="12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2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 REVIEW  →  REFINED PITCH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D8A7E-F4A6-4C58-981F-0C7D76B1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115050"/>
            <a:ext cx="1069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55667"/>
                </a:solidFill>
                <a:latin typeface="Arial"/>
                <a:ea typeface="Arial"/>
                <a:cs typeface="Arial"/>
              </a:rPr>
              <a:t>Future options, subject to validation and scope. Synthetic responses are directional, not measured customer opinions.</a:t>
            </a:r>
          </a:p>
        </p:txBody>
      </p:sp>
    </p:spTree>
    <p:extLst>
      <p:ext uri="{BB962C8B-B14F-4D97-AF65-F5344CB8AC3E}">
        <p14:creationId xmlns:p14="http://schemas.microsoft.com/office/powerpoint/2010/main" val="537204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5B109-AD87-468C-8891-218A8A2B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PROPOSED INTEGRATION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8734-E683-41BF-85BE-6F26E123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Connect your existing stack and embed intelligence into the way </a:t>
            </a:r>
            <a:r>
              <a:rPr sz="2700" b="1">
                <a:solidFill>
                  <a:srgbClr val="071827"/>
                </a:solidFill>
              </a:rPr>
              <a:t>Boutique Marketing Agency</a:t>
            </a:r>
            <a:r>
              <a:rPr sz="2700" b="1">
                <a:solidFill>
                  <a:srgbClr val="071827"/>
                </a:solidFill>
              </a:rPr>
              <a:t> works.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FB010-9DE0-4836-B993-3274123B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429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B2676-B760-4F95-8D44-ECE71E68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336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827"/>
                </a:solidFill>
              </a:defRPr>
            </a:pPr>
            <a:r>
              <a:rPr sz="1800" b="1">
                <a:solidFill>
                  <a:srgbClr val="071827"/>
                </a:solidFill>
              </a:rPr>
              <a:t>Connect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C15A2-CA35-414A-8E98-0E18FB86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04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CRM accounts &amp; opportunity history</a:t>
            </a:r>
          </a:p>
          <a:p xmlns:a="http://schemas.openxmlformats.org/drawingml/2006/main">
            <a:r>
              <a:rPr sz="90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Market data &amp; analytics platforms</a:t>
            </a:r>
          </a:p>
          <a:p xmlns:a="http://schemas.openxmlformats.org/drawingml/2006/main">
            <a:r>
              <a:rPr sz="90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Documents, briefs &amp; knowledge bases</a:t>
            </a:r>
          </a:p>
          <a:p xmlns:a="http://schemas.openxmlformats.org/drawingml/2006/main">
            <a:r>
              <a:rPr sz="90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Direct APIs and MCP-connected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7AE3F-DFE1-40FC-88BF-882693A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8DF77-CC67-41E1-9CF1-44AECCED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336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827"/>
                </a:solidFill>
              </a:defRPr>
            </a:pPr>
            <a:r>
              <a:rPr sz="1800" b="1">
                <a:solidFill>
                  <a:srgbClr val="071827"/>
                </a:solidFill>
              </a:rPr>
              <a:t>Orchestrate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F02FF-EF6C-4AE1-9041-C9FB5BD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304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Event-driven workflows via webhooks</a:t>
            </a:r>
          </a:p>
          <a:p xmlns:a="http://schemas.openxmlformats.org/drawingml/2006/main">
            <a:r>
              <a:rPr sz="90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MCP clients for tool &amp; context access</a:t>
            </a:r>
          </a:p>
          <a:p xmlns:a="http://schemas.openxmlformats.org/drawingml/2006/main">
            <a:r>
              <a:rPr sz="90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Agent workflows with structured outputs</a:t>
            </a:r>
          </a:p>
          <a:p xmlns:a="http://schemas.openxmlformats.org/drawingml/2006/main">
            <a:r>
              <a:rPr sz="90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 approval before external 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7137C-03FC-4483-A7D2-299E5B0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2004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48CE1-7469-4DA4-84CC-86FF8260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533650"/>
            <a:ext cx="2390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827"/>
                </a:solidFill>
              </a:defRPr>
            </a:pPr>
            <a:r>
              <a:rPr sz="1800" b="1">
                <a:solidFill>
                  <a:srgbClr val="071827"/>
                </a:solidFill>
              </a:rPr>
              <a:t>Expose capabilities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CDDA3-4F54-4176-9E44-F6A38784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2819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Research &amp; scoring through an API</a:t>
            </a:r>
          </a:p>
          <a:p xmlns:a="http://schemas.openxmlformats.org/drawingml/2006/main">
            <a:r>
              <a:rPr sz="90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MCP server exposing tools &amp; resources</a:t>
            </a:r>
          </a:p>
          <a:p xmlns:a="http://schemas.openxmlformats.org/drawingml/2006/main">
            <a:r>
              <a:rPr sz="90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Pitch evaluation for other AI agents</a:t>
            </a:r>
          </a:p>
          <a:p xmlns:a="http://schemas.openxmlformats.org/drawingml/2006/main">
            <a:r>
              <a:rPr sz="90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Embed within larger business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6EE8F-4F97-42AA-A282-40B205E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4a361087d462b"/>
          <a:stretch xmlns:a="http://schemas.openxmlformats.org/drawingml/2006/main"/>
        </p:blipFill>
        <p:spPr>
          <a:xfrm xmlns:a="http://schemas.openxmlformats.org/drawingml/2006/main">
            <a:off x="800100" y="25431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fb34924994892"/>
          <a:stretch xmlns:a="http://schemas.openxmlformats.org/drawingml/2006/main"/>
        </p:blipFill>
        <p:spPr>
          <a:xfrm xmlns:a="http://schemas.openxmlformats.org/drawingml/2006/main">
            <a:off x="4572000" y="25431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a273640994528"/>
          <a:stretch xmlns:a="http://schemas.openxmlformats.org/drawingml/2006/main"/>
        </p:blipFill>
        <p:spPr>
          <a:xfrm xmlns:a="http://schemas.openxmlformats.org/drawingml/2006/main">
            <a:off x="8343900" y="25431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1A9E1-368D-4B2F-A0C1-63C3108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B60A3-F5C8-4238-AD94-58C69208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3405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338C5-479A-44D7-AB83-CB871AB3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3405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C3F4B-9CFD-4D43-9EF3-21E6E17C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73405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CB2B8-1DBD-4565-8307-E0829D2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572125"/>
            <a:ext cx="1285875" cy="44767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Sources / CRM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E5E8D-6BC9-4A9A-8796-43FE30FF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72125"/>
            <a:ext cx="1990725" cy="44767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API / MCP · Composio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D6A43-9753-468B-ACAC-CC032A3F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572125"/>
            <a:ext cx="1895475" cy="44767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87F75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0F40B-1ADD-4304-ACAC-1F878FEE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572125"/>
            <a:ext cx="1752600" cy="44767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Knowledge Graph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35934-3B80-4A9C-B2D9-F713CC6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572125"/>
            <a:ext cx="2076450" cy="44767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 Workflows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523919-6782-48A0-ACC5-4246490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105525"/>
            <a:ext cx="1069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Future options: integrations depend on available APIs, data access and agreed implementation scope.</a:t>
            </a:r>
          </a:p>
        </p:txBody>
      </p:sp>
    </p:spTree>
    <p:extLst>
      <p:ext uri="{BB962C8B-B14F-4D97-AF65-F5344CB8AC3E}">
        <p14:creationId xmlns:p14="http://schemas.microsoft.com/office/powerpoint/2010/main" val="5372044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DF3C9-7024-45D7-9DCB-2AD25F8F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9B43A-C128-45BC-8A2D-548FC091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Strengthen the offering and prepare for future analyst evaluation.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1B424-42BF-4A4A-B736-B49C5E12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48250" cy="20764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AF5"/>
          </a:solidFill>
          <a:ln xmlns:a="http://schemas.openxmlformats.org/drawingml/2006/main" w="11430">
            <a:solidFill>
              <a:srgbClr val="69B9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F9EB-91A0-4113-B091-2760D27B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289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F75"/>
                </a:solidFill>
              </a:defRPr>
            </a:pPr>
            <a:r>
              <a:rPr sz="1725" b="1">
                <a:solidFill>
                  <a:srgbClr val="087F75"/>
                </a:solidFill>
              </a:rPr>
              <a:t>Intelligence Evaluation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438C2-3E24-45E3-A577-4CA229B6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4667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  <a:defRPr sz="1200"/>
            </a:pPr>
            <a:r>
              <a:rPr sz="1200">
                <a:solidFill>
                  <a:srgbClr val="455667"/>
                </a:solidFill>
                <a:latin typeface="Arial"/>
                <a:ea typeface="Arial"/>
                <a:cs typeface="Arial"/>
              </a:rPr>
              <a:t>1. Planning &amp; kickoff: scope and criteria</a:t>
            </a:r>
          </a:p>
          <a:p xmlns:a="http://schemas.openxmlformats.org/drawingml/2006/main">
            <a:pPr>
              <a:buNone/>
              <a:defRPr sz="1200"/>
            </a:pPr>
            <a:r>
              <a:rPr sz="1200"/>
              <a:t> </a:t>
            </a:r>
          </a:p>
          <a:p xmlns:a="http://schemas.openxmlformats.org/drawingml/2006/main">
            <a:pPr marL="142875" indent="-123825">
              <a:buChar char="•"/>
              <a:defRPr sz="1200"/>
            </a:pPr>
            <a:r>
              <a:rPr sz="1200">
                <a:solidFill>
                  <a:srgbClr val="455667"/>
                </a:solidFill>
                <a:latin typeface="Arial"/>
                <a:ea typeface="Arial"/>
                <a:cs typeface="Arial"/>
              </a:rPr>
              <a:t>2. Gather evidence: demos and customer input</a:t>
            </a:r>
          </a:p>
          <a:p xmlns:a="http://schemas.openxmlformats.org/drawingml/2006/main">
            <a:pPr>
              <a:buNone/>
              <a:defRPr sz="1200"/>
            </a:pPr>
            <a:r>
              <a:rPr sz="1200"/>
              <a:t> </a:t>
            </a:r>
          </a:p>
          <a:p xmlns:a="http://schemas.openxmlformats.org/drawingml/2006/main">
            <a:pPr marL="142875" indent="-123825">
              <a:buChar char="•"/>
              <a:defRPr sz="1200"/>
            </a:pPr>
            <a:r>
              <a:rPr sz="1200">
                <a:solidFill>
                  <a:srgbClr val="455667"/>
                </a:solidFill>
                <a:latin typeface="Arial"/>
                <a:ea typeface="Arial"/>
                <a:cs typeface="Arial"/>
              </a:rPr>
              <a:t>3. Scoring &amp; feedback: assess and improve</a:t>
            </a:r>
          </a:p>
          <a:p xmlns:a="http://schemas.openxmlformats.org/drawingml/2006/main">
            <a:pPr>
              <a:buNone/>
              <a:defRPr sz="1200"/>
            </a:pPr>
            <a:r>
              <a:rPr sz="1200"/>
              <a:t> </a:t>
            </a:r>
          </a:p>
          <a:p xmlns:a="http://schemas.openxmlformats.org/drawingml/2006/main">
            <a:pPr marL="142875" indent="-123825">
              <a:buChar char="•"/>
              <a:defRPr sz="1200"/>
            </a:pPr>
            <a:r>
              <a:rPr sz="1200">
                <a:solidFill>
                  <a:srgbClr val="455667"/>
                </a:solidFill>
                <a:latin typeface="Arial"/>
                <a:ea typeface="Arial"/>
                <a:cs typeface="Arial"/>
              </a:rPr>
              <a:t>4. Review &amp; publish: approved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5834F-F2FA-477C-9625-00306050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5353050" cy="20764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0F9FB"/>
          </a:solidFill>
          <a:ln xmlns:a="http://schemas.openxmlformats.org/drawingml/2006/main" w="11430">
            <a:solidFill>
              <a:srgbClr val="69BF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15A90-752D-4CDE-8B83-6E794138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28900"/>
            <a:ext cx="454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28B9A"/>
                </a:solidFill>
              </a:defRPr>
            </a:pPr>
            <a:r>
              <a:rPr sz="1725" b="1">
                <a:solidFill>
                  <a:srgbClr val="128B9A"/>
                </a:solidFill>
              </a:rPr>
              <a:t>Product Validation &amp; Benchmarking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AEF06-F922-4A15-839C-48AA27FC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4972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  <a:defRPr sz="1125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Prepare scenario-based product demos</a:t>
            </a:r>
          </a:p>
          <a:p xmlns:a="http://schemas.openxmlformats.org/drawingml/2006/main">
            <a:pPr>
              <a:buNone/>
              <a:defRPr sz="1125"/>
            </a:pPr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  <a:defRPr sz="1125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Document capabilities and customer outcomes</a:t>
            </a:r>
          </a:p>
          <a:p xmlns:a="http://schemas.openxmlformats.org/drawingml/2006/main">
            <a:pPr>
              <a:buNone/>
              <a:defRPr sz="1125"/>
            </a:pPr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  <a:defRPr sz="1125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Build reference-customer evidence</a:t>
            </a:r>
          </a:p>
          <a:p xmlns:a="http://schemas.openxmlformats.org/drawingml/2006/main">
            <a:pPr>
              <a:buNone/>
              <a:defRPr sz="1125"/>
            </a:pPr>
            <a:r>
              <a:rPr sz="1125"/>
              <a:t> </a:t>
            </a:r>
          </a:p>
          <a:p xmlns:a="http://schemas.openxmlformats.org/drawingml/2006/main">
            <a:pPr marL="142875" indent="-123825">
              <a:buChar char="•"/>
              <a:defRPr sz="1125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Internal tiers: Leader / Strong Performer / Contender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D8EF8-2383-4481-B1CD-6EFA57BE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BFF5E9"/>
          </a:solidFill>
          <a:ln xmlns:a="http://schemas.openxmlformats.org/drawingml/2006/main" w="9525">
            <a:solidFill>
              <a:srgbClr val="BFF5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E3A77-8C20-42A0-98B6-CFA4B3D5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75"/>
                </a:solidFill>
              </a:defRPr>
            </a:pPr>
            <a:r>
              <a:rPr sz="1350" b="1">
                <a:solidFill>
                  <a:srgbClr val="087F75"/>
                </a:solidFill>
              </a:rPr>
              <a:t>Long-term ambition: explore eligibility for a future Forrester Wave evaluation.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37D69-8109-4941-91C6-3F7D068F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b588923bd4870"/>
          <a:stretch xmlns:a="http://schemas.openxmlformats.org/drawingml/2006/main"/>
        </p:blipFill>
        <p:spPr>
          <a:xfrm xmlns:a="http://schemas.openxmlformats.org/drawingml/2006/main">
            <a:off x="800100" y="263842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311c78f2842ff"/>
          <a:stretch xmlns:a="http://schemas.openxmlformats.org/drawingml/2006/main"/>
        </p:blipFill>
        <p:spPr>
          <a:xfrm xmlns:a="http://schemas.openxmlformats.org/drawingml/2006/main">
            <a:off x="6191250" y="26384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530CD-FC11-447D-B2DA-B2F2A201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38675"/>
            <a:ext cx="10696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AI-SIMULATED REVIEW PANEL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62F45-4ED6-4D6E-91D7-5307CF86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14900"/>
            <a:ext cx="2057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0F2EF"/>
          </a:solidFill>
          <a:ln xmlns:a="http://schemas.openxmlformats.org/drawingml/2006/main" w="9525">
            <a:solidFill>
              <a:srgbClr val="69B99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9746B-E1D7-4BEE-8D20-AB9A1C30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81575"/>
            <a:ext cx="1981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5E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5E64"/>
                </a:solidFill>
                <a:latin typeface="Arial"/>
                <a:ea typeface="Arial"/>
                <a:cs typeface="Arial"/>
              </a:rPr>
              <a:t>Analyst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7F7DA-681C-4468-877A-8AC7803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914900"/>
            <a:ext cx="2057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0F2EF"/>
          </a:solidFill>
          <a:ln xmlns:a="http://schemas.openxmlformats.org/drawingml/2006/main" w="9525">
            <a:solidFill>
              <a:srgbClr val="69B99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7F23E-4C65-4508-B81B-2146B7DE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81575"/>
            <a:ext cx="1981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5E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5E64"/>
                </a:solidFill>
                <a:latin typeface="Arial"/>
                <a:ea typeface="Arial"/>
                <a:cs typeface="Arial"/>
              </a:rPr>
              <a:t>Research Director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942B8-BD17-4573-90E5-91DCF7E0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14900"/>
            <a:ext cx="2057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0F2EF"/>
          </a:solidFill>
          <a:ln xmlns:a="http://schemas.openxmlformats.org/drawingml/2006/main" w="9525">
            <a:solidFill>
              <a:srgbClr val="69B9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49B70D-8FFA-4C4E-A1BC-7A2A7835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981575"/>
            <a:ext cx="1981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5E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5E64"/>
                </a:solidFill>
                <a:latin typeface="Arial"/>
                <a:ea typeface="Arial"/>
                <a:cs typeface="Arial"/>
              </a:rPr>
              <a:t>Project Manager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69770-A939-4A76-8C24-3C9E2C77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14900"/>
            <a:ext cx="2057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0F2EF"/>
          </a:solidFill>
          <a:ln xmlns:a="http://schemas.openxmlformats.org/drawingml/2006/main" w="9525">
            <a:solidFill>
              <a:srgbClr val="69B99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9177F-5EEF-4D68-BE51-E942E46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981575"/>
            <a:ext cx="1981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5E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5E64"/>
                </a:solidFill>
                <a:latin typeface="Arial"/>
                <a:ea typeface="Arial"/>
                <a:cs typeface="Arial"/>
              </a:rPr>
              <a:t>Vendor Response Team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CB5B3F-4077-4608-95D9-DC20CAF9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914900"/>
            <a:ext cx="2057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0F2EF"/>
          </a:solidFill>
          <a:ln xmlns:a="http://schemas.openxmlformats.org/drawingml/2006/main" w="9525">
            <a:solidFill>
              <a:srgbClr val="69B99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8E52F-DE36-4D51-98B0-36A3E8E6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981575"/>
            <a:ext cx="1981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5E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5E64"/>
                </a:solidFill>
                <a:latin typeface="Arial"/>
                <a:ea typeface="Arial"/>
                <a:cs typeface="Arial"/>
              </a:rPr>
              <a:t>Reference Customer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1A267D-6886-451D-BAC5-A912CE04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124575"/>
            <a:ext cx="10696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55667"/>
                </a:solidFill>
                <a:latin typeface="Arial"/>
                <a:ea typeface="Arial"/>
                <a:cs typeface="Arial"/>
              </a:rPr>
              <a:t>Process adapted from Forrester’s published methodology as a benchmark for product strategy and improvement.
Internal simulations do not replace real customer references; Forrester determines inclusion and evaluation.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1EB1DA-4FA5-4E2B-ACA4-09A8058B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1069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55667"/>
                </a:solidFill>
                <a:latin typeface="Arial"/>
                <a:ea typeface="Arial"/>
                <a:cs typeface="Arial"/>
              </a:rPr>
              <a:t>AI-Simulated Review Panel: role-based assessment with a defined scoring rubric and explicit assumptions, informed by Forrester’s published process.</a:t>
            </a:r>
          </a:p>
        </p:txBody>
      </p:sp>
    </p:spTree>
    <p:extLst>
      <p:ext uri="{BB962C8B-B14F-4D97-AF65-F5344CB8AC3E}">
        <p14:creationId xmlns:p14="http://schemas.microsoft.com/office/powerpoint/2010/main" val="17530697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5B109-AD87-468C-8891-218A8A2B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8734-E683-41BF-85BE-6F26E123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Connect your existing stack and embed intelligence into the way </a:t>
            </a:r>
            <a:r>
              <a:rPr sz="2700" b="1">
                <a:solidFill>
                  <a:srgbClr val="071827"/>
                </a:solidFill>
              </a:rPr>
              <a:t>Boutique Marketing Agency</a:t>
            </a:r>
            <a:r>
              <a:rPr sz="2700" b="1">
                <a:solidFill>
                  <a:srgbClr val="071827"/>
                </a:solidFill>
              </a:rPr>
              <a:t> works.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FB010-9DE0-4836-B993-3274123B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429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B2676-B760-4F95-8D44-ECE71E68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336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827"/>
                </a:solidFill>
              </a:defRPr>
            </a:pPr>
            <a:r>
              <a:rPr sz="1800" b="1">
                <a:solidFill>
                  <a:srgbClr val="071827"/>
                </a:solidFill>
              </a:rPr>
              <a:t>Sources (examples)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C15A2-CA35-414A-8E98-0E18FB86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04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Email / Superhuman · Telegram · Slack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Notion · Obsidian · Google Drive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CRM: Salesforce / HubSpot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Work management: Jira · Kanban boards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Integration: Composio · Vercel AI SDK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Research &amp; scoring via API / MCP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7AE3F-DFE1-40FC-88BF-882693A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8DF77-CC67-41E1-9CF1-44AECCED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336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827"/>
                </a:solidFill>
              </a:defRPr>
            </a:pPr>
            <a:r>
              <a:rPr sz="1800" b="1">
                <a:solidFill>
                  <a:srgbClr val="071827"/>
                </a:solidFill>
              </a:rPr>
              <a:t>Orchestrate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F02FF-EF6C-4AE1-9041-C9FB5BD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304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Agent Meta-Coordination: LangGraph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Agent Execution: Deep Agents · CrewAI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Execution environment: Hermes Cloud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Structured outputs &amp; shared context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 review and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7137C-03FC-4483-A7D2-299E5B0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2004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48CE1-7469-4DA4-84CC-86FF8260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533650"/>
            <a:ext cx="2390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1827"/>
                </a:solidFill>
              </a:defRPr>
            </a:pPr>
            <a:r>
              <a:rPr sz="1800" b="1">
                <a:solidFill>
                  <a:srgbClr val="071827"/>
                </a:solidFill>
              </a:rPr>
              <a:t>Models &amp;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CDDA3-4F54-4176-9E44-F6A38784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2819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Fireworks AI: inference &amp; fine-tuning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Nexus / FireRouter: Adaptive Routing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FireConnect: coding-agent connectivity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Knowledge Graph &amp; Semantic Retrieval</a:t>
            </a:r>
          </a:p>
          <a:p xmlns:a="http://schemas.openxmlformats.org/drawingml/2006/main">
            <a:r>
              <a:rPr sz="750"/>
              <a:t> </a:t>
            </a:r>
          </a:p>
          <a:p xmlns:a="http://schemas.openxmlformats.org/drawingml/2006/main">
            <a:pPr marL="142875" indent="-123825">
              <a:buChar char="•"/>
            </a:pPr>
            <a:r>
              <a:rPr sz="1125">
                <a:solidFill>
                  <a:srgbClr val="455667"/>
                </a:solidFill>
                <a:latin typeface="Arial"/>
                <a:ea typeface="Arial"/>
                <a:cs typeface="Arial"/>
              </a:rPr>
              <a:t>Persistent Memory across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6EE8F-4F97-42AA-A282-40B205E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43940dce14f7b"/>
          <a:stretch xmlns:a="http://schemas.openxmlformats.org/drawingml/2006/main"/>
        </p:blipFill>
        <p:spPr>
          <a:xfrm xmlns:a="http://schemas.openxmlformats.org/drawingml/2006/main">
            <a:off x="800100" y="25431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df50b3f814f89"/>
          <a:stretch xmlns:a="http://schemas.openxmlformats.org/drawingml/2006/main"/>
        </p:blipFill>
        <p:spPr>
          <a:xfrm xmlns:a="http://schemas.openxmlformats.org/drawingml/2006/main">
            <a:off x="4572000" y="25431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47d08367b450a"/>
          <a:stretch xmlns:a="http://schemas.openxmlformats.org/drawingml/2006/main"/>
        </p:blipFill>
        <p:spPr>
          <a:xfrm xmlns:a="http://schemas.openxmlformats.org/drawingml/2006/main">
            <a:off x="8343900" y="25431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1A9E1-368D-4B2F-A0C1-63C3108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3405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B60A3-F5C8-4238-AD94-58C69208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3405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338C5-479A-44D7-AB83-CB871AB3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3405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C3F4B-9CFD-4D43-9EF3-21E6E17C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73405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CB2B8-1DBD-4565-8307-E0829D2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572125"/>
            <a:ext cx="1285875" cy="44767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Sources / CRM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E5E8D-6BC9-4A9A-8796-43FE30FF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72125"/>
            <a:ext cx="1990725" cy="44767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Composio · Vercel AI SDK
MCP · REST APIs · Webhooks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D6A43-9753-468B-ACAC-CC032A3F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572125"/>
            <a:ext cx="1895475" cy="44767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87F75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0F40B-1ADD-4304-ACAC-1F878FEE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572125"/>
            <a:ext cx="1752600" cy="44767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Knowledge &amp; 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35934-3B80-4A9C-B2D9-F713CC6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572125"/>
            <a:ext cx="2076450" cy="44767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 Workflows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523919-6782-48A0-ACC5-4246490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105525"/>
            <a:ext cx="1069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KNOWLEDGE &amp; MEMORY LAYER  ·  Knowledge Graph  ·  Semantic Retrieval  ·  Persistent Memory</a:t>
            </a:r>
          </a:p>
        </p:txBody>
      </p:sp>
    </p:spTree>
    <p:extLst>
      <p:ext uri="{BB962C8B-B14F-4D97-AF65-F5344CB8AC3E}">
        <p14:creationId xmlns:p14="http://schemas.microsoft.com/office/powerpoint/2010/main" val="5372044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5B109-AD87-468C-8891-218A8A2B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87F75"/>
                </a:solidFill>
              </a:defRPr>
            </a:pPr>
            <a:r>
              <a:rPr sz="975" b="1">
                <a:solidFill>
                  <a:srgbClr val="087F75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8734-E683-41BF-85BE-6F26E123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0125"/>
            <a:ext cx="106984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71827"/>
                </a:solidFill>
              </a:defRPr>
            </a:pPr>
            <a:r>
              <a:rPr sz="2700" b="1">
                <a:solidFill>
                  <a:srgbClr val="071827"/>
                </a:solidFill>
              </a:rPr>
              <a:t>Technical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6EE8F-4F97-42AA-A282-40B205E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0949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0949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1A9E1-368D-4B2F-A0C1-63C3108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990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B60A3-F5C8-4238-AD94-58C69208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338C5-479A-44D7-AB83-CB871AB3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C3F4B-9CFD-4D43-9EF3-21E6E17C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09900"/>
            <a:ext cx="257175" cy="12382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CB2B8-1DBD-4565-8307-E0829D2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67000"/>
            <a:ext cx="1285875" cy="80962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Sources / CRM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E5E8D-6BC9-4A9A-8796-43FE30FF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67000"/>
            <a:ext cx="1990725" cy="80962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Composio · Vercel AI SDK
MCP · REST APIs · Webhooks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D6A43-9753-468B-ACAC-CC032A3F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67000"/>
            <a:ext cx="1895475" cy="80962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87F75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0F40B-1ADD-4304-ACAC-1F878FEE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67000"/>
            <a:ext cx="1752600" cy="80962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Knowledge &amp; 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35934-3B80-4A9C-B2D9-F713CC6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67000"/>
            <a:ext cx="2076450" cy="809625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47625" tIns="0" rIns="47625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Boutique Marketing Agency</a:t>
            </a:r>
            <a:r>
              <a:rPr sz="12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 Workflows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523919-6782-48A0-ACC5-4246490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81425"/>
            <a:ext cx="1069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55667"/>
                </a:solidFill>
                <a:latin typeface="Arial"/>
                <a:ea typeface="Arial"/>
                <a:cs typeface="Arial"/>
              </a:rPr>
              <a:t>KNOWLEDGE &amp; MEMORY  ·  Knowledge Graph  ·  Semantic Retrieval  ·  Persistent Memory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9A46F-4E01-4011-8F16-9579880B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76750"/>
            <a:ext cx="10639425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87F75"/>
                </a:solidFill>
                <a:latin typeface="Arial"/>
                <a:ea typeface="Arial"/>
                <a:cs typeface="Arial"/>
              </a:rPr>
              <a:t>Agent Meta-Coordination: LangGraph  ·  Execution: Deep Agents / CrewAI  ·  Environment: Hermes Cloud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D447D-3199-4781-BC84-C112E5A1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181600"/>
            <a:ext cx="10639425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F75"/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55667"/>
                </a:solidFill>
                <a:latin typeface="Arial"/>
                <a:ea typeface="Arial"/>
                <a:cs typeface="Arial"/>
              </a:rPr>
              <a:t>MODEL SERVICES</a:t>
            </a:r>
          </a:p>
          <a:p xmlns:a="http://schemas.openxmlformats.org/drawingml/2006/main">
            <a:pPr algn="ctr">
              <a:buNone/>
              <a:defRPr sz="1200">
                <a:solidFill>
                  <a:srgbClr val="4556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55667"/>
                </a:solidFill>
                <a:latin typeface="Arial"/>
                <a:ea typeface="Arial"/>
                <a:cs typeface="Arial"/>
              </a:rPr>
              <a:t>Fireworks AI: Inference &amp; Fine-tuning  ·  Nexus / FireRouter: Adaptive Routing  ·  FireConnect: Coding-agent Connectivity</a:t>
            </a:r>
          </a:p>
        </p:txBody>
      </p:sp>
    </p:spTree>
    <p:extLst>
      <p:ext uri="{BB962C8B-B14F-4D97-AF65-F5344CB8AC3E}">
        <p14:creationId xmlns:p14="http://schemas.microsoft.com/office/powerpoint/2010/main" val="537204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2026-08-27T18:17:42.0990000Z</dcterms:created>
  <dcterms:modified xsi:type="dcterms:W3CDTF">2026-08-27T18:17:42.0990000Z</dcterms:modified>
</coreProperties>
</file>